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64ad986d8404b" /><Relationship Type="http://schemas.openxmlformats.org/officeDocument/2006/relationships/extended-properties" Target="/docProps/app.xml" Id="Rad748628442b4f60" /><Relationship Type="http://schemas.openxmlformats.org/officeDocument/2006/relationships/officeDocument" Target="/ppt/presentation.xml" Id="R3c01efef69d24a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15aadd408e429b"/>
  </p:sldMasterIdLst>
  <p:notesMasterIdLst>
    <p:notesMasterId xmlns:r="http://schemas.openxmlformats.org/officeDocument/2006/relationships" r:id="R6aa4ff6e416e419a"/>
  </p:notesMasterIdLst>
  <p:sldIdLst>
    <p:sldId xmlns:r="http://schemas.openxmlformats.org/officeDocument/2006/relationships" id="256" r:id="Re472a121adbd498e"/>
    <p:sldId xmlns:r="http://schemas.openxmlformats.org/officeDocument/2006/relationships" id="257" r:id="R0b21944f237a470d"/>
    <p:sldId xmlns:r="http://schemas.openxmlformats.org/officeDocument/2006/relationships" id="258" r:id="R4d72b6b1e12e4c2c"/>
    <p:sldId xmlns:r="http://schemas.openxmlformats.org/officeDocument/2006/relationships" id="259" r:id="R70709bb347744e30"/>
    <p:sldId xmlns:r="http://schemas.openxmlformats.org/officeDocument/2006/relationships" id="260" r:id="R7c886dc2d5c448c4"/>
    <p:sldId xmlns:r="http://schemas.openxmlformats.org/officeDocument/2006/relationships" id="261" r:id="R703e639431e342e4"/>
    <p:sldId xmlns:r="http://schemas.openxmlformats.org/officeDocument/2006/relationships" id="262" r:id="R79b8e0da19dc449b"/>
    <p:sldId xmlns:r="http://schemas.openxmlformats.org/officeDocument/2006/relationships" id="263" r:id="R756e56193a05456d"/>
    <p:sldId xmlns:r="http://schemas.openxmlformats.org/officeDocument/2006/relationships" id="264" r:id="R5af684e418e74d35"/>
    <p:sldId xmlns:r="http://schemas.openxmlformats.org/officeDocument/2006/relationships" id="265" r:id="R1b00e3b64ddf4e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1e4b40127d437e" /><Relationship Type="http://schemas.openxmlformats.org/officeDocument/2006/relationships/slideMaster" Target="/ppt/slideMasters/slideMaster1.xml" Id="R7415aadd408e429b" /><Relationship Type="http://schemas.openxmlformats.org/officeDocument/2006/relationships/notesMaster" Target="/ppt/notesMasters/notesMaster1.xml" Id="R6aa4ff6e416e419a" /><Relationship Type="http://schemas.openxmlformats.org/officeDocument/2006/relationships/presProps" Target="/ppt/presProps.xml" Id="R0815ecebb1274d0e" /><Relationship Type="http://schemas.openxmlformats.org/officeDocument/2006/relationships/tableStyles" Target="/ppt/tableStyles.xml" Id="R384e80a87f684fec" /><Relationship Type="http://schemas.openxmlformats.org/officeDocument/2006/relationships/slide" Target="/ppt/slides/slide1.xml" Id="Re472a121adbd498e" /><Relationship Type="http://schemas.openxmlformats.org/officeDocument/2006/relationships/slide" Target="/ppt/slides/slide2.xml" Id="R0b21944f237a470d" /><Relationship Type="http://schemas.openxmlformats.org/officeDocument/2006/relationships/slide" Target="/ppt/slides/slide3.xml" Id="R4d72b6b1e12e4c2c" /><Relationship Type="http://schemas.openxmlformats.org/officeDocument/2006/relationships/slide" Target="/ppt/slides/slide4.xml" Id="R70709bb347744e30" /><Relationship Type="http://schemas.openxmlformats.org/officeDocument/2006/relationships/slide" Target="/ppt/slides/slide5.xml" Id="R7c886dc2d5c448c4" /><Relationship Type="http://schemas.openxmlformats.org/officeDocument/2006/relationships/slide" Target="/ppt/slides/slide6.xml" Id="R703e639431e342e4" /><Relationship Type="http://schemas.openxmlformats.org/officeDocument/2006/relationships/slide" Target="/ppt/slides/slide7.xml" Id="R79b8e0da19dc449b" /><Relationship Type="http://schemas.openxmlformats.org/officeDocument/2006/relationships/slide" Target="/ppt/slides/slide8.xml" Id="R756e56193a05456d" /><Relationship Type="http://schemas.openxmlformats.org/officeDocument/2006/relationships/slide" Target="/ppt/slides/slide9.xml" Id="R5af684e418e74d35" /><Relationship Type="http://schemas.openxmlformats.org/officeDocument/2006/relationships/slide" Target="/ppt/slides/slide10.xml" Id="R1b00e3b64ddf4e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37e9596866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d05ff65db4454" /><Relationship Type="http://schemas.openxmlformats.org/officeDocument/2006/relationships/notesMaster" Target="/ppt/notesMasters/notesMaster1.xml" Id="Ra25377c42d2249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9bbf76674424a" /><Relationship Type="http://schemas.openxmlformats.org/officeDocument/2006/relationships/notesMaster" Target="/ppt/notesMasters/notesMaster1.xml" Id="R23cb5ba187574b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12ec3c37384e84" /><Relationship Type="http://schemas.openxmlformats.org/officeDocument/2006/relationships/notesMaster" Target="/ppt/notesMasters/notesMaster1.xml" Id="R09e37300c10a41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425fd2ef9d4381" /><Relationship Type="http://schemas.openxmlformats.org/officeDocument/2006/relationships/notesMaster" Target="/ppt/notesMasters/notesMaster1.xml" Id="R07a21caf4d444f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55a0251e224f25" /><Relationship Type="http://schemas.openxmlformats.org/officeDocument/2006/relationships/notesMaster" Target="/ppt/notesMasters/notesMaster1.xml" Id="Rb1fa6799e3c84d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3a53d5cf7543e6" /><Relationship Type="http://schemas.openxmlformats.org/officeDocument/2006/relationships/notesMaster" Target="/ppt/notesMasters/notesMaster1.xml" Id="Ra376032345c84e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8e29201b04493c" /><Relationship Type="http://schemas.openxmlformats.org/officeDocument/2006/relationships/notesMaster" Target="/ppt/notesMasters/notesMaster1.xml" Id="R005b26e373d048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7aeb4300604aac" /><Relationship Type="http://schemas.openxmlformats.org/officeDocument/2006/relationships/notesMaster" Target="/ppt/notesMasters/notesMaster1.xml" Id="R658bd7562765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ccf404ad6d4130" /><Relationship Type="http://schemas.openxmlformats.org/officeDocument/2006/relationships/notesMaster" Target="/ppt/notesMasters/notesMaster1.xml" Id="R07634c4f5bbf40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b3e5a0937a4c23" /><Relationship Type="http://schemas.openxmlformats.org/officeDocument/2006/relationships/notesMaster" Target="/ppt/notesMasters/notesMaster1.xml" Id="Rdbae393c5a4041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strengthened result combines the earlier specialized mathematical formulation with a held-out historical-rating experiment. It did not establish a recommendation-accuracy gain. The positive finding is fewer annotation lookups to certify a fixed recommendation under the declared matching model. Worldwide originality remains unverified. 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 a parent theme with weight +1 and avoid its subtype with weight -1. Unknown candidate A versus neutral B with both bits zero. Child implies parent. Coherent A utility is never below zero, so its regret is zero. The flat model admits parent=0, child=1 and assigns A=-1, creating phantom regret one. With k copies the unnormalized gap is k, and L1-normalized gap is 0.5. Analytical construction only; no actual preference is inferred. See docs/milestone2/hierarchy/DERIVATION.md.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a be challenger labels and b chosen labels. Shared signed independent weight box [L,U]. max_w w(a-b)=U*a*(1-b)-L*(1-a)*b. Complement chosen label y=1-b to obtain L*a+L*y+(U-L)*a*y-L. The nonnegative product term is representable by an auxiliary node with implications to a and y. Maximum-weight closure reduces to one min cut. Copy challenger implications and reverse complemented chosen implications, with known facts hard. Graph has 3m+2 nodes and O(m+e) arcs. At most N(N-1) comparisons for finite deterministic selection. A structural-fault budget uses soft implication penalties to give a conservative, generally inexact budgeted bound. Prior art: Picard 1976 maximum closure DOI 10.1287/mnsc.22.11.1268 ; Kolmogorov-Zabih 2004 https://www.cs.cornell.edu/~rdz/Papers/KZ-PAMI04.pdf ; Regan-Boutilier 2009 https://www.kevinregan.com/files/recsys09.pdf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Earlier frozen structural experiment; scripted preference requests and artificially masked LTO annotation references. 46 distinct book/film sources, 195 distinct targets, eight fixed candidates each, 12–22 active facets. All compared bounds refer to the same exact-selected candidate. Mean exact bound 0.2490942, flat propagated shared-weight bound 0.3179348, independent per-item utility-interval ablation 0.4009662. The 21.7% mean reduction is uncertainty-bound tightening, not accuracy. 240 exhaustive small exact cases, 90 fault-budget cases and 12 MILP scale-oracle cases checked. Initial NetworkX implementation was slower than the MILP at large size; native flow was added and both runs retained. 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Parent protocol SHA-256 274be049eaca299152d310e9c418bdf4dffa6306162b05b0286f0a19e9b11fa0. Frozen locally before validation; not an external preregistration. 128 validation users and 320 disjoint test users. Global time windows on matched ratings: train through 2006-02-19, validation through 2009-10-02 and later test. Evaluation users excluded from background fit. User profile last 20 prior ratings, all previously seen items excluded. Same 16 candidates for all decision methods; no future positives inserted. Rating &gt;=4 relevant, unobserved nonrelevant offline. All 320 users in primary means; 314 have eligible positives. Independent weight intervals +/-25% are fixed sensitivity choices, not confidence intervals. Closed-world missing-bit oracle remains artificial.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Primary predeclared nonzero mechanism comparison: gamma=.5, mask=.5. Same 16 candidate pool and shared validation parameters. Historical baseline chooses content alpha=0 (ItemKNN with popularity fallback if positive profile empty); EASE regularization=10000. Hierarchy-minus-flat paired NDCG +0.0010476, 95% bootstrap CI [-0.0005310,+0.0028552], 2000 user resamples. These overlap zero and do not establish improvement or noninferiority. Full-catalog audit: popularity .213588, ItemKNN .231994, historical baseline .238479, EASE .224723. Complete-annotation diagnostic is not included here as a deployable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At 50% masking: flat mean capped annotation cost 6.8625, coherent 6.41875. Mean savings .44375, 95% paired user-bootstrap [.196796875,.75]. Relative mean saving 6.4663%. The identical five-item historical-baseline list has NDCG .238479 and recall .122375 for both stopping policies. Certificate checks first item against 15 challengers with fixed gamma=.5 and normalized threshold .20. Shared adaptive entropy/influence query schedule, sound propagation for both methods. 24-bit lookup cap. 19/320 benefit; 250 flat and 255 coherent certify; 65 neither certify. Metadata bits are LTO closed-world references, not human preference questions. Cost ordering follows mathematically from bound inclusion; this test quantifies magnitude and frequency with rating-derived profiles.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75% missing metadata, fixed gamma=.5. Hierarchy NDCG .22418345 versus historical baseline .23847903, paired difference -.01429558, 95% CI [-.02544059,-.00337452]. Hierarchy-minus-flat -.00166268, interval [-.00444331,.00119242], so not established superior to flat. Lookup costs 17.6 flat versus16.928125 coherent, 3.8175% lower, 119 versus129 certified of320;191 neither. Validation had already selected gamma=0 before test results were consulted. Chosen deployment reproduces historical baseline exactly; its NDCG does not establish hierarchy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Supplemental post-result one-time replay of each method own certification prefix on this Mac; one native warm-up, flat timed first. Mean flat computation 1.9508659310758958 ms; coherent 29.877064412198706 ms; added 27.92619848112281 ms. Mean added computation / mean saved queries gives break-even uniform annotation latency 62.93227826731901 ms. Includes repeated bound computations and propagation; excludes fitting, retrieval, I/O and actual annotation latency. No production-latency guarantee. Ranking matrix p50 67.32514599934802 ms, p95 74.440157699064 ms for 16 candidates and22–44 facets. Cheap cached metadata may not justify the additional exact computation.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Specialized exact formulation with shared signed box preferences and partial implication-only labels; conservative structural-fault extension. Exact mathematical correctness is conditional on assumptions. Originality is provisional; minimax regret, feature acquisition, graph cuts and hierarchical recommendation have precedents. Held-out data strengthen empirical grounding, not worldwide novelty. No new human, book/song transfer or tiny-SLM accuracy benefit. Prior tiny model remained weak in the separate source-reading study. Own scripts, source hashes, per-user records, validation trials and query traces saved in heldout directory. 112 API/ML tests pass. Future work: independently verified negative/unknown annotations, calibrated preferences, multiple splits and fresh cross-domain user outcomes. Demo http://127.0.0.1:8008/hierarchy remains structural illustrative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1261bb5964a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92dc7d7b446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8203b0b0340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0f1909cb042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c575a677440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344f890ad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1480FC-8C37-4F6F-9AEA-5FAD6A37D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7C8B3F-DF34-4434-80FE-0BA2FF22D2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6CF461-9BAB-414E-B679-D00901BA4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4A91A4-C400-4B61-B22B-1EFDEB6C5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F7FE22-FDA4-4DEA-9572-86D7A7EBB0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F45959-82A3-416F-839E-CC92D16D2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6810B7-4F44-4723-AF4F-1CBA0CD13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EB221B-A7F0-4DC5-AB82-355B6A77E4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087DBB-D95B-4EAF-AF04-2594A426A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C8033A-543A-4654-9EA5-7C198EDC7C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8fc6c5d05e4be4" /><Relationship Type="http://schemas.openxmlformats.org/officeDocument/2006/relationships/slideLayout" Target="/ppt/slideLayouts/slideLayout1.xml" Id="R9138d574d76c4911" /><Relationship Type="http://schemas.openxmlformats.org/officeDocument/2006/relationships/slideLayout" Target="/ppt/slideLayouts/slideLayout2.xml" Id="Rbe90528693224010" /><Relationship Type="http://schemas.openxmlformats.org/officeDocument/2006/relationships/slideLayout" Target="/ppt/slideLayouts/slideLayout3.xml" Id="R2345683a9ec54b22" /><Relationship Type="http://schemas.openxmlformats.org/officeDocument/2006/relationships/slideLayout" Target="/ppt/slideLayouts/slideLayout4.xml" Id="Rb5d37ae4a5d44c33" /><Relationship Type="http://schemas.openxmlformats.org/officeDocument/2006/relationships/slideLayout" Target="/ppt/slideLayouts/slideLayout5.xml" Id="R82b396e534b945b1" /><Relationship Type="http://schemas.openxmlformats.org/officeDocument/2006/relationships/slideLayout" Target="/ppt/slideLayouts/slideLayout6.xml" Id="Rc7d5de8dc7f3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38d574d76c4911"/>
    <p:sldLayoutId xmlns:r="http://schemas.openxmlformats.org/officeDocument/2006/relationships" id="2147483650" r:id="Rbe90528693224010"/>
    <p:sldLayoutId xmlns:r="http://schemas.openxmlformats.org/officeDocument/2006/relationships" id="2147483651" r:id="R2345683a9ec54b22"/>
    <p:sldLayoutId xmlns:r="http://schemas.openxmlformats.org/officeDocument/2006/relationships" id="2147483652" r:id="Rb5d37ae4a5d44c33"/>
    <p:sldLayoutId xmlns:r="http://schemas.openxmlformats.org/officeDocument/2006/relationships" id="2147483653" r:id="R82b396e534b945b1"/>
    <p:sldLayoutId xmlns:r="http://schemas.openxmlformats.org/officeDocument/2006/relationships" id="2147483654" r:id="Rc7d5de8dc7f3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196c558c34601" /><Relationship Type="http://schemas.openxmlformats.org/officeDocument/2006/relationships/notesSlide" Target="/ppt/notesSlides/notesSlide1.xml" Id="R4ef4d320bea1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d340f0b5a44e1" /><Relationship Type="http://schemas.openxmlformats.org/officeDocument/2006/relationships/notesSlide" Target="/ppt/notesSlides/notesSlide2.xml" Id="Rebbbfe92173c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d8009f64d4b2e" /><Relationship Type="http://schemas.openxmlformats.org/officeDocument/2006/relationships/notesSlide" Target="/ppt/notesSlides/notesSlide3.xml" Id="R7101d3b5a743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451b3ff664c48" /><Relationship Type="http://schemas.openxmlformats.org/officeDocument/2006/relationships/chart" Target="/ppt/slides/charts/chart1.xml" Id="R09e26c3baec14143" /><Relationship Type="http://schemas.openxmlformats.org/officeDocument/2006/relationships/notesSlide" Target="/ppt/notesSlides/notesSlide4.xml" Id="R2c4cbe4a07f44f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4da5582f24330" /><Relationship Type="http://schemas.openxmlformats.org/officeDocument/2006/relationships/notesSlide" Target="/ppt/notesSlides/notesSlide5.xml" Id="R6f1e3e23e8b348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d2a51213c491a" /><Relationship Type="http://schemas.openxmlformats.org/officeDocument/2006/relationships/notesSlide" Target="/ppt/notesSlides/notesSlide6.xml" Id="R18842b2a5bf34a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19062bd2f4126" /><Relationship Type="http://schemas.openxmlformats.org/officeDocument/2006/relationships/chart" Target="/ppt/slides/charts/chart2.xml" Id="R3fb2ab6d48b54f99" /><Relationship Type="http://schemas.openxmlformats.org/officeDocument/2006/relationships/notesSlide" Target="/ppt/notesSlides/notesSlide7.xml" Id="R55cde576fea94e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d05a3166745aa" /><Relationship Type="http://schemas.openxmlformats.org/officeDocument/2006/relationships/notesSlide" Target="/ppt/notesSlides/notesSlide8.xml" Id="R691afff7d5584c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211b6337941e6" /><Relationship Type="http://schemas.openxmlformats.org/officeDocument/2006/relationships/notesSlide" Target="/ppt/notesSlides/notesSlide9.xml" Id="R0b043c68726144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5121d11ba4756" /><Relationship Type="http://schemas.openxmlformats.org/officeDocument/2006/relationships/notesSlide" Target="/ppt/notesSlides/notesSlide10.xml" Id="R699a0b3948c142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Measured value</c:v>
          </c:tx>
          <c:spPr>
            <a:solidFill xmlns:a="http://schemas.openxmlformats.org/drawingml/2006/main">
              <a:srgbClr val="20594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Coherent bound</c:v>
                </c:pt>
                <c:pt idx="1">
                  <c:v>Flat + propagation</c:v>
                </c:pt>
                <c:pt idx="2">
                  <c:v>Interval ablation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0.249094</c:v>
                </c:pt>
                <c:pt idx="1">
                  <c:v>0.317935</c:v>
                </c:pt>
                <c:pt idx="2">
                  <c:v>0.400966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CC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6F7F3"/>
        </a:solidFill>
      </c:spPr>
    </c:plotArea>
    <c:plotVisOnly val="1"/>
  </c:chart>
  <c:spPr>
    <a:solidFill xmlns:a="http://schemas.openxmlformats.org/drawingml/2006/main">
      <a:srgbClr val="F6F7F3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Measured value</c:v>
          </c:tx>
          <c:spPr>
            <a:solidFill xmlns:a="http://schemas.openxmlformats.org/drawingml/2006/main">
              <a:srgbClr val="20594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Flat + propagation</c:v>
                </c:pt>
                <c:pt idx="1">
                  <c:v>Coherent hierarchy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6.8625</c:v>
                </c:pt>
                <c:pt idx="1">
                  <c:v>6.41875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C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6F7F3"/>
        </a:solidFill>
      </c:spPr>
    </c:plotArea>
    <c:plotVisOnly val="1"/>
  </c:chart>
  <c:spPr>
    <a:solidFill xmlns:a="http://schemas.openxmlformats.org/drawingml/2006/main">
      <a:srgbClr val="F6F7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59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42746-FF40-4393-A3EF-F137EF3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F4D76-4F03-41AC-81D4-BE7F220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057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Hierarchical uncertainty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a real-ratings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62D56-5A5F-42AC-9460-1D9AC947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rPr>
              <a:t>Exact decisions and measured annotation effort</a:t>
            </a:r>
          </a:p>
          <a:p xmlns:a="http://schemas.openxmlformats.org/drawingml/2006/main">
            <a:pPr>
              <a:def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rPr>
              <a:t>Graduation project research result</a:t>
            </a:r>
          </a:p>
        </p:txBody>
      </p:sp>
    </p:spTree>
    <p:extLst>
      <p:ext uri="{BB962C8B-B14F-4D97-AF65-F5344CB8AC3E}">
        <p14:creationId xmlns:p14="http://schemas.microsoft.com/office/powerpoint/2010/main" val="317355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4169F-3592-4254-9653-311AA753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An impossible world creates extra doubt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EC834-286A-41AC-9B35-87C53E63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Parent weight +1, avoided subtype weight −1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A2B9D-06B2-4B80-9DCF-B3ACCA105982}"/>
              </a:ext>
            </a:extLst>
          </p:cNvPr>
          <p:cNvGraphicFramePr/>
          <p:nvPr/>
        </p:nvGraphicFramePr>
        <p:xfrm>
          <a:off xmlns:a="http://schemas.openxmlformats.org/drawingml/2006/main" x="647700" y="1952625"/>
          <a:ext xmlns:a="http://schemas.openxmlformats.org/drawingml/2006/main" cx="10896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  <a:gridCol w="2381250"/>
                <a:gridCol w="3752850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Allowed?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Violates hierarchy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912C5-6208-4D21-80F9-F8050259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The coherent model removes the last row from the uncertainty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01C5C-2DB3-4680-B18D-F5FE6DE6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Declared parent/subtype weights and a valid implication. This example concerns matching utility, not independently measured enjoyment.</a:t>
            </a:r>
          </a:p>
        </p:txBody>
      </p:sp>
    </p:spTree>
    <p:extLst>
      <p:ext uri="{BB962C8B-B14F-4D97-AF65-F5344CB8AC3E}">
        <p14:creationId xmlns:p14="http://schemas.microsoft.com/office/powerpoint/2010/main" val="641689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FBF43-03CD-4249-9E2A-4779C633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Exact pairwise regret by minimum cut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4B6F0-A680-4CF9-98A2-B5160F9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Unknown labels and one shared preference vector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One pairwise gap requires one minimum cut</a:t>
            </a:r>
          </a:p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3m + 2 nodes and O(m + e) arcs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 declared fault budget gives a conservative 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D984F-7E20-4F7F-87A8-3AEB07B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m counts facets and e counts implications. Assumptions: correct observed facts, additive matching utility and independent bounded preference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2110669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355BD-E94A-46D3-A1AF-B35A6F0B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Structural test: 100 of 276 states tightened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FEF85F7-51BA-4E09-881D-3B64ED2A2F9C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e26c3baec1414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E5AAA-F7F4-44AA-9661-4ABB210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Mean normalized uncertainty bound for the same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2D1BC-D4E5-4039-ADB0-3E94AF9C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The first study used scripted requests. The following test replaces relevance judgments with independent held-out MovieLens ratings.</a:t>
            </a:r>
          </a:p>
        </p:txBody>
      </p:sp>
    </p:spTree>
    <p:extLst>
      <p:ext uri="{BB962C8B-B14F-4D97-AF65-F5344CB8AC3E}">
        <p14:creationId xmlns:p14="http://schemas.microsoft.com/office/powerpoint/2010/main" val="83240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70B2B-5D63-446D-AC07-733441C5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Held-out historical-rating protocol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1F830-3D8E-49B6-9B26-55C329ABDF44}"/>
              </a:ext>
            </a:extLst>
          </p:cNvPr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966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562850"/>
              </a:tblGrid>
              <a:tr h="54156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design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intersection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1,242 films and 3.84 million ratings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 validation and 320 separate test profiles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Last 20 prior ratings per 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16 retrieved films, five recommendations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outcome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MovieLens ratings ≥4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metadata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 primary mask and 75% stress mask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3DDE0-E5BB-44A7-9710-F6CB526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Movie-only validation with retrospective LTO metadata. Masking simulates incomplete labels. These are recorded historical users, not newly recruited participants.</a:t>
            </a:r>
          </a:p>
        </p:txBody>
      </p:sp>
    </p:spTree>
    <p:extLst>
      <p:ext uri="{BB962C8B-B14F-4D97-AF65-F5344CB8AC3E}">
        <p14:creationId xmlns:p14="http://schemas.microsoft.com/office/powerpoint/2010/main" val="542487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B5608-2C99-42C0-A7E4-2B621321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Ranking improvement remains unestablished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79BC2-2E4C-4B4F-902C-D538779F0DF5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53100"/>
                <a:gridCol w="2571750"/>
                <a:gridCol w="2571750"/>
              </a:tblGrid>
              <a:tr h="531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NDCG@5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Marginal imputation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+ propagation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0.1179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Coherent hierarchy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0.1185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05375-A750-4B08-AE9A-72AE791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Hierarchy − flat: +0.0010</a:t>
            </a:r>
          </a:p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95% paired interval: −0.0005 to +0.0029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E7157-4E7D-4855-A1BC-A34A7AD3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Fixed nonzero theme weight, 50% missing labels. Same-pool evaluation. The original result files also include full-catalog baseline scores.</a:t>
            </a:r>
          </a:p>
        </p:txBody>
      </p:sp>
    </p:spTree>
    <p:extLst>
      <p:ext uri="{BB962C8B-B14F-4D97-AF65-F5344CB8AC3E}">
        <p14:creationId xmlns:p14="http://schemas.microsoft.com/office/powerpoint/2010/main" val="1931002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04FA0-C92E-439C-B1D8-3856829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Fewer lookups for the same recommendations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541FDD4-34A6-4566-8D66-041732D02AAB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b2ab6d48b54f9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7248F-98F2-4C7F-A078-A7CB9DC7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Mean saving: 0.44 lookups, 95% interval 0.20–0.75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1CC8A-D7D8-48A0-B1F2-0F3EC2D1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6.5% lower mean lookup cost. Only 19/320 profiles benefit. Both methods retain the same list. The 24-lookup budget includes unsuccessful cases.</a:t>
            </a:r>
          </a:p>
        </p:txBody>
      </p:sp>
    </p:spTree>
    <p:extLst>
      <p:ext uri="{BB962C8B-B14F-4D97-AF65-F5344CB8AC3E}">
        <p14:creationId xmlns:p14="http://schemas.microsoft.com/office/powerpoint/2010/main" val="506323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AF045-D234-4A72-AE92-693E507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Severe missingness exposes a ranking failure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E4F79-CE86-432C-BF3C-61697D48B5F1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53350"/>
                <a:gridCol w="31432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75% mask, fixed theme weight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NDCG@5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+ propagation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Coherent hierarchy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3EFF2-A12A-4004-86DF-21888C1E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Validation selected zero theme weight before the test.</a:t>
            </a:r>
          </a:p>
          <a:p xmlns:a="http://schemas.openxmlformats.org/drawingml/2006/main">
            <a:pPr>
              <a:def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The selected policy retains the historical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310D9-D1C3-4C26-B45C-FF6555A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Hierarchy − historical baseline: −0.0143, 95% paired interval −0.0254 to −0.0034. Missing-label bounds alone do not guarantee rating accuracy.</a:t>
            </a:r>
          </a:p>
        </p:txBody>
      </p:sp>
    </p:spTree>
    <p:extLst>
      <p:ext uri="{BB962C8B-B14F-4D97-AF65-F5344CB8AC3E}">
        <p14:creationId xmlns:p14="http://schemas.microsoft.com/office/powerpoint/2010/main" val="1167154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B1A5E-9EFA-40A5-8ECF-257C56D4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Annotation savings have a compute cost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B776A-ADD0-43A3-88E9-90E559393716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53350"/>
                <a:gridCol w="31432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certification computation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Milliseconds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+ propagation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Coherent hierarchy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29.88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Added computation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27.93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F755-D7C2-4FC6-8CCD-25261341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Exploratory break-even: about 63 ms per label lookup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C563E-750E-4C5E-89C8-BCC00FA5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Assumes uniform annotation latency. A single local replay measured computation only. Actual human/model annotation time and source I/O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241517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4DC5D-1B7F-40B9-AF93-D0CB786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 stronger, bounded research contribution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123DC-84AD-4238-98CC-E1A45446446E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9913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conditional uncertainty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Derivation and independent solver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Annotation effort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6.5% fewer mean lookups in primary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Recommendation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established gain, with a stress-test failure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Novelty boundary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specialization of established methods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E7D7E-A586-4460-906C-FFD9E848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Saved protocols, per-user outputs and the report support the claims. Song transfer, human preference-question savings and SLM improvement remain open.</a:t>
            </a:r>
          </a:p>
        </p:txBody>
      </p:sp>
    </p:spTree>
    <p:extLst>
      <p:ext uri="{BB962C8B-B14F-4D97-AF65-F5344CB8AC3E}">
        <p14:creationId xmlns:p14="http://schemas.microsoft.com/office/powerpoint/2010/main" val="1707428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2026-10-14T14:14:37.8450000Z</dcterms:created>
  <dcterms:modified xsi:type="dcterms:W3CDTF">2026-10-14T14:14:37.8450000Z</dcterms:modified>
</coreProperties>
</file>