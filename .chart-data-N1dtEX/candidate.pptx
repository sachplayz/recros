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cf10c2e604116" /><Relationship Type="http://schemas.openxmlformats.org/officeDocument/2006/relationships/extended-properties" Target="/docProps/app.xml" Id="R3c103256ee9c4ff4" /><Relationship Type="http://schemas.openxmlformats.org/officeDocument/2006/relationships/officeDocument" Target="/ppt/presentation.xml" Id="R1c4f4c39eaeb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c9fd075f684875"/>
  </p:sldMasterIdLst>
  <p:notesMasterIdLst>
    <p:notesMasterId xmlns:r="http://schemas.openxmlformats.org/officeDocument/2006/relationships" r:id="Rd2137d36682c4183"/>
  </p:notesMasterIdLst>
  <p:sldIdLst>
    <p:sldId xmlns:r="http://schemas.openxmlformats.org/officeDocument/2006/relationships" id="256" r:id="R0bb2bbf554e54a7b"/>
    <p:sldId xmlns:r="http://schemas.openxmlformats.org/officeDocument/2006/relationships" id="257" r:id="R12978d41723c49e9"/>
    <p:sldId xmlns:r="http://schemas.openxmlformats.org/officeDocument/2006/relationships" id="258" r:id="R52ad9ac8ed7d4ea3"/>
    <p:sldId xmlns:r="http://schemas.openxmlformats.org/officeDocument/2006/relationships" id="259" r:id="R5fee51a3af054b2a"/>
    <p:sldId xmlns:r="http://schemas.openxmlformats.org/officeDocument/2006/relationships" id="260" r:id="R63490dfbad5f497f"/>
    <p:sldId xmlns:r="http://schemas.openxmlformats.org/officeDocument/2006/relationships" id="261" r:id="R22880ab70c0d44b8"/>
    <p:sldId xmlns:r="http://schemas.openxmlformats.org/officeDocument/2006/relationships" id="262" r:id="Rfd6fb4f873934c47"/>
    <p:sldId xmlns:r="http://schemas.openxmlformats.org/officeDocument/2006/relationships" id="263" r:id="R62b67d078d524063"/>
    <p:sldId xmlns:r="http://schemas.openxmlformats.org/officeDocument/2006/relationships" id="264" r:id="R9feca0a54ef84796"/>
    <p:sldId xmlns:r="http://schemas.openxmlformats.org/officeDocument/2006/relationships" id="265" r:id="R0822331e03bd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8c7dd4a0bf4d83" /><Relationship Type="http://schemas.openxmlformats.org/officeDocument/2006/relationships/slideMaster" Target="/ppt/slideMasters/slideMaster1.xml" Id="R8fc9fd075f684875" /><Relationship Type="http://schemas.openxmlformats.org/officeDocument/2006/relationships/notesMaster" Target="/ppt/notesMasters/notesMaster1.xml" Id="Rd2137d36682c4183" /><Relationship Type="http://schemas.openxmlformats.org/officeDocument/2006/relationships/presProps" Target="/ppt/presProps.xml" Id="R489cc4d2c88942bb" /><Relationship Type="http://schemas.openxmlformats.org/officeDocument/2006/relationships/tableStyles" Target="/ppt/tableStyles.xml" Id="R6b774e1b00ec40cb" /><Relationship Type="http://schemas.openxmlformats.org/officeDocument/2006/relationships/slide" Target="/ppt/slides/slide1.xml" Id="R0bb2bbf554e54a7b" /><Relationship Type="http://schemas.openxmlformats.org/officeDocument/2006/relationships/slide" Target="/ppt/slides/slide2.xml" Id="R12978d41723c49e9" /><Relationship Type="http://schemas.openxmlformats.org/officeDocument/2006/relationships/slide" Target="/ppt/slides/slide3.xml" Id="R52ad9ac8ed7d4ea3" /><Relationship Type="http://schemas.openxmlformats.org/officeDocument/2006/relationships/slide" Target="/ppt/slides/slide4.xml" Id="R5fee51a3af054b2a" /><Relationship Type="http://schemas.openxmlformats.org/officeDocument/2006/relationships/slide" Target="/ppt/slides/slide5.xml" Id="R63490dfbad5f497f" /><Relationship Type="http://schemas.openxmlformats.org/officeDocument/2006/relationships/slide" Target="/ppt/slides/slide6.xml" Id="R22880ab70c0d44b8" /><Relationship Type="http://schemas.openxmlformats.org/officeDocument/2006/relationships/slide" Target="/ppt/slides/slide7.xml" Id="Rfd6fb4f873934c47" /><Relationship Type="http://schemas.openxmlformats.org/officeDocument/2006/relationships/slide" Target="/ppt/slides/slide8.xml" Id="R62b67d078d524063" /><Relationship Type="http://schemas.openxmlformats.org/officeDocument/2006/relationships/slide" Target="/ppt/slides/slide9.xml" Id="R9feca0a54ef84796" /><Relationship Type="http://schemas.openxmlformats.org/officeDocument/2006/relationships/slide" Target="/ppt/slides/slide10.xml" Id="R0822331e03bd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5490630e39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4274b9a744961" /><Relationship Type="http://schemas.openxmlformats.org/officeDocument/2006/relationships/notesMaster" Target="/ppt/notesMasters/notesMaster1.xml" Id="R75701ffd0b12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729ed1bb1f4585" /><Relationship Type="http://schemas.openxmlformats.org/officeDocument/2006/relationships/notesMaster" Target="/ppt/notesMasters/notesMaster1.xml" Id="Rdafa0879471b45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fc9ce452a4cea" /><Relationship Type="http://schemas.openxmlformats.org/officeDocument/2006/relationships/notesMaster" Target="/ppt/notesMasters/notesMaster1.xml" Id="R1fdb2c5cca32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b9a74553af4605" /><Relationship Type="http://schemas.openxmlformats.org/officeDocument/2006/relationships/notesMaster" Target="/ppt/notesMasters/notesMaster1.xml" Id="Rb495a6f6996b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c265fe4b346a6" /><Relationship Type="http://schemas.openxmlformats.org/officeDocument/2006/relationships/notesMaster" Target="/ppt/notesMasters/notesMaster1.xml" Id="Rc0f15641c9e4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ebb054cb3b4bc2" /><Relationship Type="http://schemas.openxmlformats.org/officeDocument/2006/relationships/notesMaster" Target="/ppt/notesMasters/notesMaster1.xml" Id="R05b8f9dabe4a4a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e7c4823f144c5b" /><Relationship Type="http://schemas.openxmlformats.org/officeDocument/2006/relationships/notesMaster" Target="/ppt/notesMasters/notesMaster1.xml" Id="R04641f8533b4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4f344153544fde" /><Relationship Type="http://schemas.openxmlformats.org/officeDocument/2006/relationships/notesMaster" Target="/ppt/notesMasters/notesMaster1.xml" Id="Rd8d1a0682f1449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9e7828212a4ae3" /><Relationship Type="http://schemas.openxmlformats.org/officeDocument/2006/relationships/notesMaster" Target="/ppt/notesMasters/notesMaster1.xml" Id="R941ef5e8477f4a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acda1b5dc44ba" /><Relationship Type="http://schemas.openxmlformats.org/officeDocument/2006/relationships/notesMaster" Target="/ppt/notesMasters/notesMaster1.xml" Id="Ra03b2bbd56d2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strengthened result combines the earlier specialized mathematical formulation with a held-out historical-rating experiment. It did not establish a recommendation-accuracy gain. The positive finding is fewer annotation lookups to certify a fixed recommendation under the declared matching model. Worldwide originality remains unverified. 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 a parent theme with weight +1 and avoid its subtype with weight -1. Unknown candidate A versus neutral B with both bits zero. Child implies parent. Coherent A utility is never below zero, so its regret is zero. The flat model admits parent=0, child=1 and assigns A=-1, creating phantom regret one. With k copies the unnormalized gap is k, and L1-normalized gap is 0.5. Analytical construction only; no actual preference is inferred. See docs/milestone2/hierarchy/DERIVATION.md.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a be challenger labels and b chosen labels. Shared signed independent weight box [L,U]. max_w w(a-b)=U*a*(1-b)-L*(1-a)*b. Complement chosen label y=1-b to obtain L*a+L*y+(U-L)*a*y-L. The nonnegative product term is representable by an auxiliary node with implications to a and y. Maximum-weight closure reduces to one min cut. Copy challenger implications and reverse complemented chosen implications, with known facts hard. Graph has 3m+2 nodes and O(m+e) arcs. At most N(N-1) comparisons for finite deterministic selection. A structural-fault budget uses soft implication penalties to give a conservative, generally inexact budgeted bound. Prior art: Picard 1976 maximum closure DOI 10.1287/mnsc.22.11.1268 ; Kolmogorov-Zabih 2004 https://www.cs.cornell.edu/~rdz/Papers/KZ-PAMI04.pdf ; Regan-Boutilier 2009 https://www.kevinregan.com/files/recsys09.pdf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Earlier frozen structural experiment; scripted preference requests and artificially masked LTO annotation references. 46 distinct book/film sources, 195 distinct targets, eight fixed candidates each, 12–22 active facets. All compared bounds refer to the same exact-selected candidate. Mean exact bound 0.2490942, flat propagated shared-weight bound 0.3179348, independent per-item utility-interval ablation 0.4009662. The 21.7% mean reduction is uncertainty-bound tightening, not accuracy. 240 exhaustive small exact cases, 90 fault-budget cases and 12 MILP scale-oracle cases checked. Initial NetworkX implementation was slower than the MILP at large size; native flow was added and both runs retained. 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Parent protocol SHA-256 274be049eaca299152d310e9c418bdf4dffa6306162b05b0286f0a19e9b11fa0. Frozen locally before validation; not an external preregistration. 128 validation users and 320 disjoint test users. Global time windows on matched ratings: train through 2006-02-19, validation through 2009-10-02 and later test. Evaluation users excluded from background fit. User profile last 20 prior ratings, all previously seen items excluded. Same 16 candidates for all decision methods; no future positives inserted. Rating &gt;=4 relevant, unobserved nonrelevant offline. All 320 users in primary means; 314 have eligible positives. Independent weight intervals +/-25% are fixed sensitivity choices, not confidence intervals. Closed-world missing-bit oracle remains artificial.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Primary predeclared nonzero mechanism comparison: gamma=.5, mask=.5. Same 16 candidate pool and shared validation parameters. Historical baseline chooses content alpha=0 (ItemKNN with popularity fallback if positive profile empty); EASE regularization=10000. Hierarchy-minus-flat paired NDCG +0.0010476, 95% bootstrap CI [-0.0005310,+0.0028552], 2000 user resamples. These overlap zero and do not establish improvement or noninferiority. Full-catalog audit: popularity .213588, ItemKNN .231994, historical baseline .238479, EASE .224723. Complete-annotation diagnostic is not included here as a deployable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At 50% masking: flat mean capped annotation cost 6.8625, coherent 6.41875. Mean savings .44375, 95% paired user-bootstrap [.196796875,.75]. Relative mean saving 6.4663%. The identical five-item historical-baseline list has NDCG .238479 and recall .122375 for both stopping policies. Certificate checks first item against 15 challengers with fixed gamma=.5 and normalized threshold .20. Shared adaptive entropy/influence query schedule, sound propagation for both methods. 24-bit lookup cap. 19/320 benefit; 250 flat and 255 coherent certify; 65 neither certify. Metadata bits are LTO closed-world references, not human preference questions. Cost ordering follows mathematically from bound inclusion; this test quantifies magnitude and frequency with rating-derived profiles.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75% missing metadata, fixed gamma=.5. Hierarchy NDCG .22418345 versus historical baseline .23847903, paired difference -.01429558, 95% CI [-.02544059,-.00337452]. Hierarchy-minus-flat -.00166268, interval [-.00444331,.00119242], so not established superior to flat. Lookup costs 17.6 flat versus16.928125 coherent, 3.8175% lower, 119 versus129 certified of320;191 neither. Validation had already selected gamma=0 before test results were consulted. Chosen deployment reproduces historical baseline exactly; its NDCG does not establish hierarchy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Supplemental post-result one-time replay of each method own certification prefix on this Mac; one native warm-up, flat timed first. Mean flat computation 1.9508659310758958 ms; coherent 29.877064412198706 ms; added 27.92619848112281 ms. Mean added computation / mean saved queries gives break-even uniform annotation latency 62.93227826731901 ms. Includes repeated bound computations and propagation; excludes fitting, retrieval, I/O and actual annotation latency. No production-latency guarantee. Ranking matrix p50 67.32514599934802 ms, p95 74.440157699064 ms for 16 candidates and22–44 facets. Cheap cached metadata may not justify the additional exact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MovieLens https://grouplens.org/datasets/movielens/20m/ ; LTO https://zenodo.org/records/19367236 ; EASE https://arxiv.org/abs/1905.03375 . Own frozen report: docs/milestone2/hierarchy/heldout/RESULT.md. Results refer to real historical ratings with artificially missing closed-world ontology metadata, not a prospective user trial. Specialized exact formulation with shared signed box preferences and partial implication-only labels; conservative structural-fault extension. Exact mathematical correctness is conditional on assumptions. Originality is provisional; minimax regret, feature acquisition, graph cuts and hierarchical recommendation have precedents. Held-out data strengthen empirical grounding, not worldwide novelty. No new human, book/song transfer or tiny-SLM accuracy benefit. Prior tiny model remained weak in the separate source-reading study. Own scripts, source hashes, per-user records, validation trials and query traces saved in heldout directory. 112 API/ML tests pass. Future work: independently verified negative/unknown annotations, calibrated preferences, multiple splits and fresh cross-domain user outcomes. Demo http://127.0.0.1:8008/hierarchy remains structural illustrative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fd06ff78842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6f70368494c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132aee52c49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d06b636e64a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b86f0a52644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10986adf3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C2F1EF-4B53-420C-9A23-D0D8CCD5E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A8FA34-18AB-4547-9D3F-98194D2BC0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479FB7-A2C1-420E-83B7-F2DD060C0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5DB7CF-AFE6-4D92-9FDE-DF787EB4A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B83E41-8826-4CEF-93B1-CE2DCD047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3B4569-6816-4D2E-96E7-F405BB5857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9E9125-07B2-430D-8EA3-E75D201FC8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808135-3929-4AC0-AC5E-CA7080FAC2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AC895-CA0E-4046-8E78-512754F4D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FB0D8E-E75B-4C10-9990-E38AA22D1A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c99f4e1f143e0" /><Relationship Type="http://schemas.openxmlformats.org/officeDocument/2006/relationships/slideLayout" Target="/ppt/slideLayouts/slideLayout1.xml" Id="R7ce571bd89fd4e5d" /><Relationship Type="http://schemas.openxmlformats.org/officeDocument/2006/relationships/slideLayout" Target="/ppt/slideLayouts/slideLayout2.xml" Id="R02b44cff0753434b" /><Relationship Type="http://schemas.openxmlformats.org/officeDocument/2006/relationships/slideLayout" Target="/ppt/slideLayouts/slideLayout3.xml" Id="R5a0a8c50dce54525" /><Relationship Type="http://schemas.openxmlformats.org/officeDocument/2006/relationships/slideLayout" Target="/ppt/slideLayouts/slideLayout4.xml" Id="Ref3f5cace5294b3e" /><Relationship Type="http://schemas.openxmlformats.org/officeDocument/2006/relationships/slideLayout" Target="/ppt/slideLayouts/slideLayout5.xml" Id="Rc38950cb9c6044f5" /><Relationship Type="http://schemas.openxmlformats.org/officeDocument/2006/relationships/slideLayout" Target="/ppt/slideLayouts/slideLayout6.xml" Id="Rf82c253ab8a2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571bd89fd4e5d"/>
    <p:sldLayoutId xmlns:r="http://schemas.openxmlformats.org/officeDocument/2006/relationships" id="2147483650" r:id="R02b44cff0753434b"/>
    <p:sldLayoutId xmlns:r="http://schemas.openxmlformats.org/officeDocument/2006/relationships" id="2147483651" r:id="R5a0a8c50dce54525"/>
    <p:sldLayoutId xmlns:r="http://schemas.openxmlformats.org/officeDocument/2006/relationships" id="2147483652" r:id="Ref3f5cace5294b3e"/>
    <p:sldLayoutId xmlns:r="http://schemas.openxmlformats.org/officeDocument/2006/relationships" id="2147483653" r:id="Rc38950cb9c6044f5"/>
    <p:sldLayoutId xmlns:r="http://schemas.openxmlformats.org/officeDocument/2006/relationships" id="2147483654" r:id="Rf82c253ab8a2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8ac16f36549a5" /><Relationship Type="http://schemas.openxmlformats.org/officeDocument/2006/relationships/notesSlide" Target="/ppt/notesSlides/notesSlide1.xml" Id="Rd94fe9de51b047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d98f0875e41c0" /><Relationship Type="http://schemas.openxmlformats.org/officeDocument/2006/relationships/notesSlide" Target="/ppt/notesSlides/notesSlide2.xml" Id="R8001c714354e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869ba57754423" /><Relationship Type="http://schemas.openxmlformats.org/officeDocument/2006/relationships/notesSlide" Target="/ppt/notesSlides/notesSlide3.xml" Id="R16d9d9e5b13f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9111ff8a84f14" /><Relationship Type="http://schemas.openxmlformats.org/officeDocument/2006/relationships/chart" Target="/ppt/slides/charts/chart1.xml" Id="R304adeac71f348ee" /><Relationship Type="http://schemas.openxmlformats.org/officeDocument/2006/relationships/notesSlide" Target="/ppt/notesSlides/notesSlide4.xml" Id="Ra221f377393348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5a799c13748f7" /><Relationship Type="http://schemas.openxmlformats.org/officeDocument/2006/relationships/notesSlide" Target="/ppt/notesSlides/notesSlide5.xml" Id="R76624b993e2c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e2877a0e44bdd" /><Relationship Type="http://schemas.openxmlformats.org/officeDocument/2006/relationships/notesSlide" Target="/ppt/notesSlides/notesSlide6.xml" Id="R16d93855a857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43271b1274cf6" /><Relationship Type="http://schemas.openxmlformats.org/officeDocument/2006/relationships/chart" Target="/ppt/slides/charts/chart2.xml" Id="R20ca4b1fe3ad41a5" /><Relationship Type="http://schemas.openxmlformats.org/officeDocument/2006/relationships/notesSlide" Target="/ppt/notesSlides/notesSlide7.xml" Id="Ra28aa28e2e81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3f5fe3b5a41e0" /><Relationship Type="http://schemas.openxmlformats.org/officeDocument/2006/relationships/notesSlide" Target="/ppt/notesSlides/notesSlide8.xml" Id="R0bcdea339cb249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8966152e64375" /><Relationship Type="http://schemas.openxmlformats.org/officeDocument/2006/relationships/notesSlide" Target="/ppt/notesSlides/notesSlide9.xml" Id="Rcd027e92e4e8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19e9429ed4e0d" /><Relationship Type="http://schemas.openxmlformats.org/officeDocument/2006/relationships/notesSlide" Target="/ppt/notesSlides/notesSlide10.xml" Id="R3245758bb7ce42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20594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Coherent bound</c:v>
                </c:pt>
                <c:pt idx="1">
                  <c:v>Flat + propagation</c:v>
                </c:pt>
                <c:pt idx="2">
                  <c:v>Interval ablation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0.249094</c:v>
                </c:pt>
                <c:pt idx="1">
                  <c:v>0.317935</c:v>
                </c:pt>
                <c:pt idx="2">
                  <c:v>0.400966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CC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6F7F3"/>
        </a:solidFill>
      </c:spPr>
    </c:plotArea>
    <c:plotVisOnly val="1"/>
  </c:chart>
  <c:spPr>
    <a:solidFill xmlns:a="http://schemas.openxmlformats.org/drawingml/2006/main">
      <a:srgbClr val="F6F7F3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Measured value</c:v>
          </c:tx>
          <c:spPr>
            <a:solidFill xmlns:a="http://schemas.openxmlformats.org/drawingml/2006/main">
              <a:srgbClr val="20594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Flat + propagation</c:v>
                </c:pt>
                <c:pt idx="1">
                  <c:v>Coherent hierarchy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6.8625</c:v>
                </c:pt>
                <c:pt idx="1">
                  <c:v>6.41875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C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6F7F3"/>
        </a:solidFill>
      </c:spPr>
    </c:plotArea>
    <c:plotVisOnly val="1"/>
  </c:chart>
  <c:spPr>
    <a:solidFill xmlns:a="http://schemas.openxmlformats.org/drawingml/2006/main">
      <a:srgbClr val="F6F7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59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7AE2C-6F6F-40DA-8335-2E72DB3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936E7-3721-4474-8D2F-925066DC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057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Hierarchical uncertainty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a real-ratings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8A32-AD40-496F-8C63-D62143DD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rPr>
              <a:t>Exact decisions and measured annotation effort</a:t>
            </a:r>
          </a:p>
          <a:p xmlns:a="http://schemas.openxmlformats.org/drawingml/2006/main">
            <a:pPr>
              <a:def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DE9DE"/>
                </a:solidFill>
                <a:latin typeface="Helvetica Neue"/>
                <a:ea typeface="Helvetica Neue"/>
                <a:cs typeface="Helvetica Neue"/>
              </a:rPr>
              <a:t>Graduation project research result</a:t>
            </a:r>
          </a:p>
        </p:txBody>
      </p:sp>
    </p:spTree>
    <p:extLst>
      <p:ext uri="{BB962C8B-B14F-4D97-AF65-F5344CB8AC3E}">
        <p14:creationId xmlns:p14="http://schemas.microsoft.com/office/powerpoint/2010/main" val="14823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BCEF0-6CC0-40CC-BAFC-5C3B6500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An impossible world creates extra doubt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9F8E9-C85C-4667-ADD8-76B77922BE50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  <a:gridCol w="2381250"/>
                <a:gridCol w="37528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Allowed?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Violates hierarchy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DEED4-4DF3-48C7-AB56-BECD267D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The coherent model removes the last row from the uncertainty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C6B21-C160-446B-A067-CB97CBD3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Declared parent/subtype weights and a valid implication. This example concerns matching utility, not independently measured enjoyment.</a:t>
            </a:r>
          </a:p>
        </p:txBody>
      </p:sp>
    </p:spTree>
    <p:extLst>
      <p:ext uri="{BB962C8B-B14F-4D97-AF65-F5344CB8AC3E}">
        <p14:creationId xmlns:p14="http://schemas.microsoft.com/office/powerpoint/2010/main" val="22000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DFB15-EB93-4F90-9620-FCA411A2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Exact pairwise regret by minimum cut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91F87-5D6C-49BE-AF80-82CEBF03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Unknown labels and one shared preference vector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One pairwise gap requires one minimum cut</a:t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3m + 2 nodes and O(m + e) arcs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 declared fault budget gives a conservative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B3E20-B721-4FBE-8AEB-6BE2A25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Scope: correct observed facts, implication-only binary labels, additive matching utility and independent bounded preference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1775079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CF423-271A-41D7-A1B0-B6B8C74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Structural test: 100 of 276 states tightened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E39D52A-41D8-488B-9270-88FF75A90BD1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4adeac71f348e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33BDC-DA3F-425B-B476-DCD130F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Mean normalized uncertainty bound for the same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81973-7BB0-404F-AE0D-B434E7D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The first study used scripted requests. The following test replaces relevance judgments with independent held-out MovieLens ratings.</a:t>
            </a:r>
          </a:p>
        </p:txBody>
      </p:sp>
    </p:spTree>
    <p:extLst>
      <p:ext uri="{BB962C8B-B14F-4D97-AF65-F5344CB8AC3E}">
        <p14:creationId xmlns:p14="http://schemas.microsoft.com/office/powerpoint/2010/main" val="16777185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0A33F-95FA-47B0-AF09-0F18D7F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Held-out historical-rating protocol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F6A1-F57A-4C52-A01A-C03EBDB5C422}"/>
              </a:ext>
            </a:extLst>
          </p:cNvPr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966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562850"/>
              </a:tblGrid>
              <a:tr h="54156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design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intersection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1,242 films and 3.84 million ratings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 validation and 320 separate test profiles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Last 20 prior ratings per 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16 retrieved films, five recommendations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outcome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MovieLens ratings ≥4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metadata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 primary mask and 75% stress mask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D20BC-6253-460D-A527-3EC5C5A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Movie-only validation with retrospective LTO metadata. Masking simulates incomplete labels. These are recorded historical users, not newly recruited participants.</a:t>
            </a:r>
          </a:p>
        </p:txBody>
      </p:sp>
    </p:spTree>
    <p:extLst>
      <p:ext uri="{BB962C8B-B14F-4D97-AF65-F5344CB8AC3E}">
        <p14:creationId xmlns:p14="http://schemas.microsoft.com/office/powerpoint/2010/main" val="1612382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4D46E-C0E9-48EB-8609-9B4A2BD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Ranking improvement remains unestablished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EA759-FBA3-4349-91A2-E28C98473238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53100"/>
                <a:gridCol w="2571750"/>
                <a:gridCol w="2571750"/>
              </a:tblGrid>
              <a:tr h="531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NDCG@5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Marginal imputation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943B9-3B50-4D6F-96C5-FB9B30FB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Hierarchy − flat: +0.0010</a:t>
            </a:r>
          </a:p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95% paired interval: −0.0005 to +0.0029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28E3-FCD9-44CD-9D87-EAC15BD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Fixed nonzero theme weight, 50% missing labels. Same-pool evaluation. The original result files also include full-catalog baseline scores.</a:t>
            </a:r>
          </a:p>
        </p:txBody>
      </p:sp>
    </p:spTree>
    <p:extLst>
      <p:ext uri="{BB962C8B-B14F-4D97-AF65-F5344CB8AC3E}">
        <p14:creationId xmlns:p14="http://schemas.microsoft.com/office/powerpoint/2010/main" val="1296881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5752E-7E8C-42EA-9D8E-A9F2616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Fewer lookups for the same recommendations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5E47164-52B6-4D29-B36A-B41022FAB8C4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ca4b1fe3ad41a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CED8C-B4A7-4472-B8EE-3716AFF7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Mean saving: 0.44 lookups, 95% interval 0.20–0.75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C3EFD-25EB-4700-A0FD-6B33BC0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6.5% lower mean lookup cost. Only 19/320 profiles benefit. Both methods retain the same list. The 24-lookup budget includes unsuccessful cases.</a:t>
            </a:r>
          </a:p>
        </p:txBody>
      </p:sp>
    </p:spTree>
    <p:extLst>
      <p:ext uri="{BB962C8B-B14F-4D97-AF65-F5344CB8AC3E}">
        <p14:creationId xmlns:p14="http://schemas.microsoft.com/office/powerpoint/2010/main" val="1038506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C067-ACA2-48C4-A9CE-A2093F41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Severe missingness exposes a ranking failure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C99C-27A2-4DAD-A347-25E9E07C1DA8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53350"/>
                <a:gridCol w="31432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75% mask, fixed theme weight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NDCG@5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4ABBD-6B0B-42F0-8985-44589C9C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Validation selected zero theme weight before the test.</a:t>
            </a:r>
          </a:p>
          <a:p xmlns:a="http://schemas.openxmlformats.org/drawingml/2006/main">
            <a:pPr>
              <a:def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The selected policy retains the historical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CA1FB-8DFE-4788-A162-326BA39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Hierarchy − historical baseline: −0.0143, 95% paired interval −0.0254 to −0.0034. Missing-label bounds alone do not guarantee rating accuracy.</a:t>
            </a:r>
          </a:p>
        </p:txBody>
      </p:sp>
    </p:spTree>
    <p:extLst>
      <p:ext uri="{BB962C8B-B14F-4D97-AF65-F5344CB8AC3E}">
        <p14:creationId xmlns:p14="http://schemas.microsoft.com/office/powerpoint/2010/main" val="1303286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0902-058D-4C1A-A983-B7D73D91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Annotation savings have a compute cost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9009-454B-442C-AF19-9D23CBEE420C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53350"/>
                <a:gridCol w="31432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certification computation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Milliseconds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+ propagation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Coherent hierarchy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Added computation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B2A50-B28E-4229-94BB-1F6B0FA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Exploratory break-even: about 63 ms per label lookup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3CFD4-15A9-43B4-B04A-8E8A865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Assumes uniform annotation latency. A single local replay measured computation only. Actual human/model annotation time and source I/O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2022458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98DF0-EFF3-40E2-B32C-BEE61D9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C31"/>
                </a:solidFill>
                <a:latin typeface="Helvetica Neue"/>
                <a:ea typeface="Helvetica Neue"/>
                <a:cs typeface="Helvetica Neue"/>
              </a:rPr>
              <a:t>A stronger, bounded research contribution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1DBC8-7C30-4887-99DB-02F102CDD9F6}"/>
              </a:ext>
            </a:extLst>
          </p:cNvPr>
          <p:cNvGraphicFramePr/>
          <p:nvPr/>
        </p:nvGraphicFramePr>
        <p:xfrm>
          <a:off xmlns:a="http://schemas.openxmlformats.org/drawingml/2006/main" x="647700" y="17145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9913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T w="9525">
                      <a:solidFill>
                        <a:srgbClr val="CAD5CC"/>
                      </a:solidFill>
                      <a:prstDash val="solid"/>
                    </a:lnT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2059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conditional uncertainty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Derivation and independent solver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Annotation effort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6.5% fewer mean lookups in primary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Recommendation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established gain, with a stress-test failure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Novelty boundary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5CC"/>
                      </a:solidFill>
                      <a:prstDash val="solid"/>
                    </a:lnL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specialization of established methods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5CC"/>
                      </a:solidFill>
                      <a:prstDash val="solid"/>
                    </a:lnR>
                    <a:lnB w="9525">
                      <a:solidFill>
                        <a:srgbClr val="CAD5CC"/>
                      </a:solidFill>
                      <a:prstDash val="solid"/>
                    </a:lnB>
                    <a:solidFill>
                      <a:srgbClr val="E9EFE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86CB-71F9-4165-B2B1-C4FA29C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86257"/>
                </a:solidFill>
                <a:latin typeface="Helvetica Neue"/>
                <a:ea typeface="Helvetica Neue"/>
                <a:cs typeface="Helvetica Neue"/>
              </a:rPr>
              <a:t>Public protocols, per-user outputs and the report support the claims. Song transfer, human preference-question savings and SLM improvement remain open.</a:t>
            </a:r>
          </a:p>
        </p:txBody>
      </p:sp>
    </p:spTree>
    <p:extLst>
      <p:ext uri="{BB962C8B-B14F-4D97-AF65-F5344CB8AC3E}">
        <p14:creationId xmlns:p14="http://schemas.microsoft.com/office/powerpoint/2010/main" val="2114192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2026-10-14T14:12:40.6420000Z</dcterms:created>
  <dcterms:modified xsi:type="dcterms:W3CDTF">2026-10-14T14:12:40.6420000Z</dcterms:modified>
</coreProperties>
</file>