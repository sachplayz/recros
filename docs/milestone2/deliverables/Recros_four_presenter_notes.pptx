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8eeb129dd746e4" /><Relationship Type="http://schemas.openxmlformats.org/officeDocument/2006/relationships/extended-properties" Target="/docProps/app.xml" Id="R5289a8c9bed04c9a" /><Relationship Type="http://schemas.openxmlformats.org/officeDocument/2006/relationships/officeDocument" Target="/ppt/presentation.xml" Id="R7937cd318ac04bc5" /></Relationships>
</file>

<file path=ppt/presentation.xml><?xml version="1.0" encoding="utf-8"?>
<p:presentation xmlns:p="http://schemas.openxmlformats.org/presentationml/2006/main">
  <p:sldMasterIdLst>
    <p:sldMasterId xmlns:r="http://schemas.openxmlformats.org/officeDocument/2006/relationships" id="2147483648" r:id="Rb9a97bccfc0840e9"/>
  </p:sldMasterIdLst>
  <p:notesMasterIdLst>
    <p:notesMasterId xmlns:r="http://schemas.openxmlformats.org/officeDocument/2006/relationships" r:id="Rc89bd2a3989d4efe"/>
  </p:notesMasterIdLst>
  <p:sldIdLst>
    <p:sldId xmlns:r="http://schemas.openxmlformats.org/officeDocument/2006/relationships" id="256" r:id="Rab62561361bb4ba4"/>
    <p:sldId xmlns:r="http://schemas.openxmlformats.org/officeDocument/2006/relationships" id="257" r:id="R1c452825aa014a65"/>
    <p:sldId xmlns:r="http://schemas.openxmlformats.org/officeDocument/2006/relationships" id="258" r:id="Rb73dc783f7664507"/>
    <p:sldId xmlns:r="http://schemas.openxmlformats.org/officeDocument/2006/relationships" id="259" r:id="R74427659ea1949a3"/>
    <p:sldId xmlns:r="http://schemas.openxmlformats.org/officeDocument/2006/relationships" id="260" r:id="R637b72f5366847cc"/>
    <p:sldId xmlns:r="http://schemas.openxmlformats.org/officeDocument/2006/relationships" id="261" r:id="Rfce1e0fb5b0d4f8e"/>
    <p:sldId xmlns:r="http://schemas.openxmlformats.org/officeDocument/2006/relationships" id="262" r:id="Rc493d9a3276e47e8"/>
    <p:sldId xmlns:r="http://schemas.openxmlformats.org/officeDocument/2006/relationships" id="263" r:id="Racb76eba43e64b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54952991ab4b98" /><Relationship Type="http://schemas.openxmlformats.org/officeDocument/2006/relationships/slideMaster" Target="/ppt/slideMasters/slideMaster1.xml" Id="Rb9a97bccfc0840e9" /><Relationship Type="http://schemas.openxmlformats.org/officeDocument/2006/relationships/notesMaster" Target="/ppt/notesMasters/notesMaster1.xml" Id="Rc89bd2a3989d4efe" /><Relationship Type="http://schemas.openxmlformats.org/officeDocument/2006/relationships/presProps" Target="/ppt/presProps.xml" Id="R7c498722ab0b478e" /><Relationship Type="http://schemas.openxmlformats.org/officeDocument/2006/relationships/tableStyles" Target="/ppt/tableStyles.xml" Id="R9c4e371fb7e94f68" /><Relationship Type="http://schemas.openxmlformats.org/officeDocument/2006/relationships/slide" Target="/ppt/slides/slide1.xml" Id="Rab62561361bb4ba4" /><Relationship Type="http://schemas.openxmlformats.org/officeDocument/2006/relationships/slide" Target="/ppt/slides/slide2.xml" Id="R1c452825aa014a65" /><Relationship Type="http://schemas.openxmlformats.org/officeDocument/2006/relationships/slide" Target="/ppt/slides/slide3.xml" Id="Rb73dc783f7664507" /><Relationship Type="http://schemas.openxmlformats.org/officeDocument/2006/relationships/slide" Target="/ppt/slides/slide4.xml" Id="R74427659ea1949a3" /><Relationship Type="http://schemas.openxmlformats.org/officeDocument/2006/relationships/slide" Target="/ppt/slides/slide5.xml" Id="R637b72f5366847cc" /><Relationship Type="http://schemas.openxmlformats.org/officeDocument/2006/relationships/slide" Target="/ppt/slides/slide6.xml" Id="Rfce1e0fb5b0d4f8e" /><Relationship Type="http://schemas.openxmlformats.org/officeDocument/2006/relationships/slide" Target="/ppt/slides/slide7.xml" Id="Rc493d9a3276e47e8" /><Relationship Type="http://schemas.openxmlformats.org/officeDocument/2006/relationships/slide" Target="/ppt/slides/slide8.xml" Id="Racb76eba43e64b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0e4c0d673c4f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96162562af4c31" /><Relationship Type="http://schemas.openxmlformats.org/officeDocument/2006/relationships/notesMaster" Target="/ppt/notesMasters/notesMaster1.xml" Id="R0d901f69bb9146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a6be7d204b4f2a" /><Relationship Type="http://schemas.openxmlformats.org/officeDocument/2006/relationships/notesMaster" Target="/ppt/notesMasters/notesMaster1.xml" Id="Re18c21bdac3e45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9cb82fecda438e" /><Relationship Type="http://schemas.openxmlformats.org/officeDocument/2006/relationships/notesMaster" Target="/ppt/notesMasters/notesMaster1.xml" Id="R7e003da33d7641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c85d9fbab24201" /><Relationship Type="http://schemas.openxmlformats.org/officeDocument/2006/relationships/notesMaster" Target="/ppt/notesMasters/notesMaster1.xml" Id="R7469fc95faef4a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adae50164f4b52" /><Relationship Type="http://schemas.openxmlformats.org/officeDocument/2006/relationships/notesMaster" Target="/ppt/notesMasters/notesMaster1.xml" Id="R3280c4ecc8f6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c20705cdc64fd3" /><Relationship Type="http://schemas.openxmlformats.org/officeDocument/2006/relationships/notesMaster" Target="/ppt/notesMasters/notesMaster1.xml" Id="Ra4b0a351324841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9d948bb1534296" /><Relationship Type="http://schemas.openxmlformats.org/officeDocument/2006/relationships/notesMaster" Target="/ppt/notesMasters/notesMaster1.xml" Id="Rcbdd81e4447142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eb7f2fa0e84d09" /><Relationship Type="http://schemas.openxmlformats.org/officeDocument/2006/relationships/notesMaster" Target="/ppt/notesMasters/notesMaster1.xml" Id="R178b31e29fd940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SLIDE 1 | DIFFICULTY 2/10</a:t>
            </a:r>
          </a:p>
          <a:p xmlns:a="http://schemas.openxmlformats.org/drawingml/2006/main">
            <a:r>
              <a:t>The complete presenter segment is under five minutes. Presenter 1 recap is two minutes only.</a:t>
            </a:r>
          </a:p>
          <a:p xmlns:a="http://schemas.openxmlformats.org/drawingml/2006/main">
            <a:r>
              <a:t>Question bank P1 01 to P1 16.</a:t>
            </a:r>
          </a:p>
          <a:p xmlns:a="http://schemas.openxmlformats.org/drawingml/2006/main">
            <a:r>
              <a:t/>
            </a:r>
          </a:p>
          <a:p xmlns:a="http://schemas.openxmlformats.org/drawingml/2006/main">
            <a:r>
              <a:t>SPEECH</a:t>
            </a:r>
          </a:p>
          <a:p xmlns:a="http://schemas.openxmlformats.org/drawingml/2006/main">
            <a:r>
              <a:t/>
            </a:r>
          </a:p>
          <a:p xmlns:a="http://schemas.openxmlformats.org/drawingml/2006/main">
            <a:r>
              <a:t>TWO MINUTE RECAP WHILE COVER IS DISPLAYED</a:t>
            </a:r>
          </a:p>
          <a:p xmlns:a="http://schemas.openxmlformats.org/drawingml/2006/main">
            <a:r>
              <a:t/>
            </a:r>
          </a:p>
          <a:p xmlns:a="http://schemas.openxmlformats.org/drawingml/2006/main">
            <a:r>
              <a:t>Our first milestone established a literature review, a hybrid architecture and a preliminary model for movies, books and songs. We identified eight challenges: cold start, sparsity, popularity bias, filter bubbles, feedback loops, explainability, domain isolation and unequal exposure.</a:t>
            </a:r>
          </a:p>
          <a:p xmlns:a="http://schemas.openxmlformats.org/drawingml/2006/main">
            <a:r>
              <a:t/>
            </a:r>
          </a:p>
          <a:p xmlns:a="http://schemas.openxmlformats.org/drawingml/2006/main">
            <a:r>
              <a:t>We designed nine stages: onboarding, language interpretation, memory, retrieval, compact ranking, diversity and fairness adjustment, explanations and cross domain enhancement, output, and feedback. The proposed weights were thirty percent similarity, twenty similar users, fifteen genre, ten each novelty, diversity and fairness, and five recency.</a:t>
            </a:r>
          </a:p>
          <a:p xmlns:a="http://schemas.openxmlformats.org/drawingml/2006/main">
            <a:r>
              <a:t/>
            </a:r>
          </a:p>
          <a:p xmlns:a="http://schemas.openxmlformats.org/drawingml/2006/main">
            <a:r>
              <a:t>The PDF reports a nineteen feature gradient boosted ranker, about 215 thousand training rows and 24 thousand validation rows. Its best iteration was 342 and AUC approximately 0.94. Across 791 users, NDCG exceeded 0.91, recall rose to approximately 0.96, and MAP ranged from 0.91 to 0.98.</a:t>
            </a:r>
          </a:p>
          <a:p xmlns:a="http://schemas.openxmlformats.org/drawingml/2006/main">
            <a:r>
              <a:t/>
            </a:r>
          </a:p>
          <a:p xmlns:a="http://schemas.openxmlformats.org/drawingml/2006/main">
            <a:r>
              <a:t>It reported thirty five percent nonprimary recommendations, 2.40 domains on average, 4.07 percent coverage and novelty minus 2.98. Coverage and novelty were weaknesses. Strong baselines, provider fairness, explanation quality and online satisfaction remained open. Today's protocols differ, so the scores are not a direct before and after comparison.</a:t>
            </a:r>
          </a:p>
          <a:p xmlns:a="http://schemas.openxmlformats.org/drawingml/2006/main">
            <a:r>
              <a:t/>
            </a:r>
          </a:p>
          <a:p xmlns:a="http://schemas.openxmlformats.org/drawingml/2006/main">
            <a:r>
              <a:t>CURRENT RESEARCH INTRODUCTION</a:t>
            </a:r>
          </a:p>
          <a:p xmlns:a="http://schemas.openxmlformats.org/drawingml/2006/main">
            <a:r>
              <a:t/>
            </a:r>
          </a:p>
          <a:p xmlns:a="http://schemas.openxmlformats.org/drawingml/2006/main">
            <a:r>
              <a:t>We then asked a narrower question: when item labels are missing, can genre and theme relationships prevent us from treating logically impossible combinations as real uncertainty?</a:t>
            </a:r>
          </a:p>
          <a:p xmlns:a="http://schemas.openxmlformats.org/drawingml/2006/main">
            <a:r>
              <a:t/>
            </a:r>
          </a:p>
          <a:p xmlns:a="http://schemas.openxmlformats.org/drawingml/2006/main">
            <a:r>
              <a:t>For example, a space opera implies science fiction. A flat system may consider space opera present while science fiction is absent. Our method removes such impossible combinations when the hierarchy is correct. We derived an exact graph based calculation for the declared model, and tested recommendation relevance and annotation effort separately. I will now explain the datasets behind the latest results.</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SLIDE 2 | DIFFICULTY 5/10</a:t>
            </a:r>
          </a:p>
          <a:p xmlns:a="http://schemas.openxmlformats.org/drawingml/2006/main">
            <a:r>
              <a:t>The complete presenter segment is under five minutes. Presenter 1 recap is two minutes only.</a:t>
            </a:r>
          </a:p>
          <a:p xmlns:a="http://schemas.openxmlformats.org/drawingml/2006/main">
            <a:r>
              <a:t>Question bank P1 17 to P1 32.</a:t>
            </a:r>
          </a:p>
          <a:p xmlns:a="http://schemas.openxmlformats.org/drawingml/2006/main">
            <a:r>
              <a:t/>
            </a:r>
          </a:p>
          <a:p xmlns:a="http://schemas.openxmlformats.org/drawingml/2006/main">
            <a:r>
              <a:t>SPEECH</a:t>
            </a:r>
          </a:p>
          <a:p xmlns:a="http://schemas.openxmlformats.org/drawingml/2006/main">
            <a:r>
              <a:t/>
            </a:r>
          </a:p>
          <a:p xmlns:a="http://schemas.openxmlformats.org/drawingml/2006/main">
            <a:r>
              <a:t>The movie test combines MovieLens ratings with the Literary Theme Ontology. It uses 789 available films and 320 test profiles. The book test uses Goodbooks ratings, a three thousand book subset and 320 profiles. The song test uses Last.fm listening events joined to AcousticBrainz genre labels, with two thousand recordings and 181 listeners.</a:t>
            </a:r>
          </a:p>
          <a:p xmlns:a="http://schemas.openxmlformats.org/drawingml/2006/main">
            <a:r>
              <a:t/>
            </a:r>
          </a:p>
          <a:p xmlns:a="http://schemas.openxmlformats.org/drawingml/2006/main">
            <a:r>
              <a:t>Movies and songs use earlier interactions as history and later interactions as outcomes. Books lack explicit timestamps, so the book experiment uses randomly separated ratings. Each profile supplies twenty known works. These are historical users in public datasets, rather than volunteers recruited by us.</a:t>
            </a:r>
          </a:p>
          <a:p xmlns:a="http://schemas.openxmlformats.org/drawingml/2006/main">
            <a:r>
              <a:t/>
            </a:r>
          </a:p>
          <a:p xmlns:a="http://schemas.openxmlformats.org/drawingml/2006/main">
            <a:r>
              <a:t>Song joins use exact recording identifiers, because an artist name or similar title cannot reliably identify a recording. The users in the three datasets are unrelated. Testing a mechanism in three domains therefore does not establish preference transfer between those domains. Presenter 2 will explain the relevance and annotation results.</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SLIDE 3 | DIFFICULTY 8/10</a:t>
            </a:r>
          </a:p>
          <a:p xmlns:a="http://schemas.openxmlformats.org/drawingml/2006/main">
            <a:r>
              <a:t>The complete presenter segment is under five minutes. Presenter 1 recap is two minutes only.</a:t>
            </a:r>
          </a:p>
          <a:p xmlns:a="http://schemas.openxmlformats.org/drawingml/2006/main">
            <a:r>
              <a:t>Question bank P2 01 to P2 16.</a:t>
            </a:r>
          </a:p>
          <a:p xmlns:a="http://schemas.openxmlformats.org/drawingml/2006/main">
            <a:r>
              <a:t/>
            </a:r>
          </a:p>
          <a:p xmlns:a="http://schemas.openxmlformats.org/drawingml/2006/main">
            <a:r>
              <a:t>SPEECH</a:t>
            </a:r>
          </a:p>
          <a:p xmlns:a="http://schemas.openxmlformats.org/drawingml/2006/main">
            <a:r>
              <a:t/>
            </a:r>
          </a:p>
          <a:p xmlns:a="http://schemas.openxmlformats.org/drawingml/2006/main">
            <a:r>
              <a:t>This slide evaluates whether recommendations actually recover independently held out ratings or plays. We use NDCG at five, which rewards relevant items more when they appear near the top. A value of one means the ideal ordering under that evaluation's relevance labels. It is not a probability that the user will enjoy a recommendation.</a:t>
            </a:r>
          </a:p>
          <a:p xmlns:a="http://schemas.openxmlformats.org/drawingml/2006/main">
            <a:r>
              <a:t/>
            </a:r>
          </a:p>
          <a:p xmlns:a="http://schemas.openxmlformats.org/drawingml/2006/main">
            <a:r>
              <a:t>Within each row, every method receives the same sixteen candidates. The reference is our validation selected historical recommender. EASE is an established collaborative baseline. Flat regret considers uncertain labels separately after propagating known facts. The hierarchy method also respects relationships among the still unknown labels.</a:t>
            </a:r>
          </a:p>
          <a:p xmlns:a="http://schemas.openxmlformats.org/drawingml/2006/main">
            <a:r>
              <a:t/>
            </a:r>
          </a:p>
          <a:p xmlns:a="http://schemas.openxmlformats.org/drawingml/2006/main">
            <a:r>
              <a:t>For movies, hierarchy scores 0.2322 against 0.2311 for flat regret. Books score 0.5994 against 0.5999. Songs score 0.1589 against 0.1586. These differences are small. More importantly, every paired confidence interval includes zero. We cannot conclude that the hierarchy improves relevance, and this also does not prove the methods are equivalent.</a:t>
            </a:r>
          </a:p>
          <a:p xmlns:a="http://schemas.openxmlformats.org/drawingml/2006/main">
            <a:r>
              <a:t/>
            </a:r>
          </a:p>
          <a:p xmlns:a="http://schemas.openxmlformats.org/drawingml/2006/main">
            <a:r>
              <a:t>EASE is stronger than the nonzero theme rerankers in books and songs in this comparison. We report that result rather than treating a simple comparator as sufficient. The much higher book scores cannot be compared directly with movie or song scores, because the datasets, targets and split rules differ. The next slide examines a separate question: can the hierarchy reduce how much missing metadata we inspect?</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SLIDE 4 | DIFFICULTY 7/10</a:t>
            </a:r>
          </a:p>
          <a:p xmlns:a="http://schemas.openxmlformats.org/drawingml/2006/main">
            <a:r>
              <a:t>The complete presenter segment is under five minutes. Presenter 1 recap is two minutes only.</a:t>
            </a:r>
          </a:p>
          <a:p xmlns:a="http://schemas.openxmlformats.org/drawingml/2006/main">
            <a:r>
              <a:t>Question bank P2 17 to P2 32.</a:t>
            </a:r>
          </a:p>
          <a:p xmlns:a="http://schemas.openxmlformats.org/drawingml/2006/main">
            <a:r>
              <a:t/>
            </a:r>
          </a:p>
          <a:p xmlns:a="http://schemas.openxmlformats.org/drawingml/2006/main">
            <a:r>
              <a:t>SPEECH</a:t>
            </a:r>
          </a:p>
          <a:p xmlns:a="http://schemas.openxmlformats.org/drawingml/2006/main">
            <a:r>
              <a:t/>
            </a:r>
          </a:p>
          <a:p xmlns:a="http://schemas.openxmlformats.org/drawingml/2006/main">
            <a:r>
              <a:t>For this experiment, we freeze the reference's five recommendations. Both methods see the same missing labels and follow the same sequence of metadata lookups. A lookup reveals one binary feature from the dataset reference. The methods stop when their calculated worst case regret for the first recommendation is below a threshold, or after twenty four lookups.</a:t>
            </a:r>
          </a:p>
          <a:p xmlns:a="http://schemas.openxmlformats.org/drawingml/2006/main">
            <a:r>
              <a:t/>
            </a:r>
          </a:p>
          <a:p xmlns:a="http://schemas.openxmlformats.org/drawingml/2006/main">
            <a:r>
              <a:t>The hierarchy can sometimes stop earlier because it excludes impossible feature combinations. At fifty percent missing metadata, mean lookups fall from 6.86 to 6.42 for movies, from 15.32 to 14.95 for books, and from 12.25 to 12.09 for songs. Those reductions are 6.5, 2.4 and 1.3 percent respectively. The five recommendation lists stay exactly identical in this experiment.</a:t>
            </a:r>
          </a:p>
          <a:p xmlns:a="http://schemas.openxmlformats.org/drawingml/2006/main">
            <a:r>
              <a:t/>
            </a:r>
          </a:p>
          <a:p xmlns:a="http://schemas.openxmlformats.org/drawingml/2006/main">
            <a:r>
              <a:t>The saving concerns source reference bits. We have not measured actual language model calls, API charges or questions asked to people. One API response may contain many labels, so saving two bits may save no calls at all. The certificate also concerns the first recommendation under our declared matching model. It does not prove human enjoyment or certify the whole five item list.</a:t>
            </a:r>
          </a:p>
          <a:p xmlns:a="http://schemas.openxmlformats.org/drawingml/2006/main">
            <a:r>
              <a:t/>
            </a:r>
          </a:p>
          <a:p xmlns:a="http://schemas.openxmlformats.org/drawingml/2006/main">
            <a:r>
              <a:t>The tighter bound mathematically cannot stop later on the shared sequence. The empirical finding is how often earlier stopping occurs and how large the saving is. Presenter 3 will show that the benefit is concentrated and often disappears under severe missingness.</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SLIDE 5 | DIFFICULTY 3/10</a:t>
            </a:r>
          </a:p>
          <a:p xmlns:a="http://schemas.openxmlformats.org/drawingml/2006/main">
            <a:r>
              <a:t>The complete presenter segment is under five minutes. Presenter 1 recap is two minutes only.</a:t>
            </a:r>
          </a:p>
          <a:p xmlns:a="http://schemas.openxmlformats.org/drawingml/2006/main">
            <a:r>
              <a:t>Question bank P3 01 to P3 16.</a:t>
            </a:r>
          </a:p>
          <a:p xmlns:a="http://schemas.openxmlformats.org/drawingml/2006/main">
            <a:r>
              <a:t/>
            </a:r>
          </a:p>
          <a:p xmlns:a="http://schemas.openxmlformats.org/drawingml/2006/main">
            <a:r>
              <a:t>SPEECH</a:t>
            </a:r>
          </a:p>
          <a:p xmlns:a="http://schemas.openxmlformats.org/drawingml/2006/main">
            <a:r>
              <a:t/>
            </a:r>
          </a:p>
          <a:p xmlns:a="http://schemas.openxmlformats.org/drawingml/2006/main">
            <a:r>
              <a:t>The averages from the previous slide hide how concentrated the benefit is. This chart shows the fraction of profiles that save at least one lookup. Nineteen of 320 movie profiles benefit, which is about 5.9 percent. Thirteen of 320 book profiles benefit, about 4.1 percent. Five of 181 song listeners benefit, about 2.8 percent.</a:t>
            </a:r>
          </a:p>
          <a:p xmlns:a="http://schemas.openxmlformats.org/drawingml/2006/main">
            <a:r>
              <a:t/>
            </a:r>
          </a:p>
          <a:p xmlns:a="http://schemas.openxmlformats.org/drawingml/2006/main">
            <a:r>
              <a:t>These percentages answer a different question from the previous slide. The previous slide showed the reduction in average lookups across everyone. This chart shows how many people receive any reduction. A small number of profiles can save several lookups while most save none.</a:t>
            </a:r>
          </a:p>
          <a:p xmlns:a="http://schemas.openxmlformats.org/drawingml/2006/main">
            <a:r>
              <a:t/>
            </a:r>
          </a:p>
          <a:p xmlns:a="http://schemas.openxmlformats.org/drawingml/2006/main">
            <a:r>
              <a:t>We kept all profiles in the averages, including those that exhausted their budget. We did not report only successful cases. With the same query sequence, a coherent bound is no larger than the flat bound. Sometimes both methods cross the threshold together, sometimes neither crosses it, and sometimes the hierarchy crosses earlier.</a:t>
            </a:r>
          </a:p>
          <a:p xmlns:a="http://schemas.openxmlformats.org/drawingml/2006/main">
            <a:r>
              <a:t/>
            </a:r>
          </a:p>
          <a:p xmlns:a="http://schemas.openxmlformats.org/drawingml/2006/main">
            <a:r>
              <a:t>The hierarchy's theoretical advantage therefore does not imply that every user benefits. The song saving is especially fragile as a broad generalization because only five listeners benefit in this sample. We need larger and more varied tests before claiming consistent practical savings. We also tested what happens when substantially more metadata is missing.</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SLIDE 6 | DIFFICULTY 7/10</a:t>
            </a:r>
          </a:p>
          <a:p xmlns:a="http://schemas.openxmlformats.org/drawingml/2006/main">
            <a:r>
              <a:t>The complete presenter segment is under five minutes. Presenter 1 recap is two minutes only.</a:t>
            </a:r>
          </a:p>
          <a:p xmlns:a="http://schemas.openxmlformats.org/drawingml/2006/main">
            <a:r>
              <a:t>Question bank P3 17 to P3 32.</a:t>
            </a:r>
          </a:p>
          <a:p xmlns:a="http://schemas.openxmlformats.org/drawingml/2006/main">
            <a:r>
              <a:t/>
            </a:r>
          </a:p>
          <a:p xmlns:a="http://schemas.openxmlformats.org/drawingml/2006/main">
            <a:r>
              <a:t>SPEECH</a:t>
            </a:r>
          </a:p>
          <a:p xmlns:a="http://schemas.openxmlformats.org/drawingml/2006/main">
            <a:r>
              <a:t/>
            </a:r>
          </a:p>
          <a:p xmlns:a="http://schemas.openxmlformats.org/drawingml/2006/main">
            <a:r>
              <a:t>Here seventy five percent of the reference labels are hidden, while the budget remains twenty four lookups. Movies receive 129 hierarchy certificates out of 320 profiles, compared with 119 for flat labels. Books receive 42 rather than 39 out of 320. Songs receive 60 rather than 59 out of 181.</a:t>
            </a:r>
          </a:p>
          <a:p xmlns:a="http://schemas.openxmlformats.org/drawingml/2006/main">
            <a:r>
              <a:t/>
            </a:r>
          </a:p>
          <a:p xmlns:a="http://schemas.openxmlformats.org/drawingml/2006/main">
            <a:r>
              <a:t>For example, only 42 of 320 book profiles reach the hierarchy threshold. The other 278 exhaust the budget without a certificate. That does not necessarily mean their recommendations are bad. It means the method cannot establish its conditional bound with the information and budget available.</a:t>
            </a:r>
          </a:p>
          <a:p xmlns:a="http://schemas.openxmlformats.org/drawingml/2006/main">
            <a:r>
              <a:t/>
            </a:r>
          </a:p>
          <a:p xmlns:a="http://schemas.openxmlformats.org/drawingml/2006/main">
            <a:r>
              <a:t>We also find lower recommendation relevance for the nonzero theme reranker than the reference in the movie and book stress conditions. Their nominal confidence intervals for that difference are entirely negative. The song estimate is lower too, but its interval includes zero, so we do not assert established song harm from this test.</a:t>
            </a:r>
          </a:p>
          <a:p xmlns:a="http://schemas.openxmlformats.org/drawingml/2006/main">
            <a:r>
              <a:t/>
            </a:r>
          </a:p>
          <a:p xmlns:a="http://schemas.openxmlformats.org/drawingml/2006/main">
            <a:r>
              <a:t>This explains why logical consistency alone is insufficient. A hierarchy can calculate uncertainty correctly while the learned preference weights predict taste poorly. The certificate assumes valid relationships, correct observed labels and an adequate preference interval. A faulty hierarchy can even create false confidence. Our separate derivation includes a conservative structural fault bound, but the slides' main experiments do not establish that it handles real annotation errors. Presenter 4 will explain what validation recommends and what we can defend as a contribution.</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 SLIDE 7 | DIFFICULTY 9/10</a:t>
            </a:r>
          </a:p>
          <a:p xmlns:a="http://schemas.openxmlformats.org/drawingml/2006/main">
            <a:r>
              <a:t>The complete presenter segment is under five minutes. Presenter 1 recap is two minutes only.</a:t>
            </a:r>
          </a:p>
          <a:p xmlns:a="http://schemas.openxmlformats.org/drawingml/2006/main">
            <a:r>
              <a:t>Question bank P4 01 to P4 16.</a:t>
            </a:r>
          </a:p>
          <a:p xmlns:a="http://schemas.openxmlformats.org/drawingml/2006/main">
            <a:r>
              <a:t/>
            </a:r>
          </a:p>
          <a:p xmlns:a="http://schemas.openxmlformats.org/drawingml/2006/main">
            <a:r>
              <a:t>SPEECH</a:t>
            </a:r>
          </a:p>
          <a:p xmlns:a="http://schemas.openxmlformats.org/drawingml/2006/main">
            <a:r>
              <a:t/>
            </a:r>
          </a:p>
          <a:p xmlns:a="http://schemas.openxmlformats.org/drawingml/2006/main">
            <a:r>
              <a:t>We select parameters on validation data before examining test performance. The parameter called gamma controls how strongly the theme utility influences ranking. All three validation studies choose gamma equal to zero from the declared grid. That means the selected policy preserves the historical reference ranking.</a:t>
            </a:r>
          </a:p>
          <a:p xmlns:a="http://schemas.openxmlformats.org/drawingml/2006/main">
            <a:r>
              <a:t/>
            </a:r>
          </a:p>
          <a:p xmlns:a="http://schemas.openxmlformats.org/drawingml/2006/main">
            <a:r>
              <a:t>The earlier slides still use the separately frozen gamma of one half to examine the mechanism with a nonzero theme effect. Comparing two zero weight systems would make the hierarchy irrelevant, so we keep that diagnostic separate from the validation selected deployment result.</a:t>
            </a:r>
          </a:p>
          <a:p xmlns:a="http://schemas.openxmlformats.org/drawingml/2006/main">
            <a:r>
              <a:t/>
            </a:r>
          </a:p>
          <a:p xmlns:a="http://schemas.openxmlformats.org/drawingml/2006/main">
            <a:r>
              <a:t>There is an important consequence: with gamma zero, genre labels cannot influence that ranking utility, so no genre acquisition is needed for it. The annotation savings under the nonzero diagnostic do not justify deploying a utility model that validation rejected.</a:t>
            </a:r>
          </a:p>
          <a:p xmlns:a="http://schemas.openxmlformats.org/drawingml/2006/main">
            <a:r>
              <a:t/>
            </a:r>
          </a:p>
          <a:p xmlns:a="http://schemas.openxmlformats.org/drawingml/2006/main">
            <a:r>
              <a:t>This table reports a full catalog audit. EASE scores about 0.6455 for books and 0.1832 for songs, above the references' 0.6190 and 0.1649. The reference is the selected member of our paired model family, not the best possible recommender. Slide 3 restricted methods to the same sixteen candidates, whereas this slide lets these baselines rank the available catalog. That is why their EASE numbers differ. A practical follow-up should compare or adopt strong validated retrieval models before claiming a better complete system.</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 SLIDE 8 | DIFFICULTY 6/10</a:t>
            </a:r>
          </a:p>
          <a:p xmlns:a="http://schemas.openxmlformats.org/drawingml/2006/main">
            <a:r>
              <a:t>The complete presenter segment is under five minutes. Presenter 1 recap is two minutes only.</a:t>
            </a:r>
          </a:p>
          <a:p xmlns:a="http://schemas.openxmlformats.org/drawingml/2006/main">
            <a:r>
              <a:t>Question bank P4 17 to P4 32.</a:t>
            </a:r>
          </a:p>
          <a:p xmlns:a="http://schemas.openxmlformats.org/drawingml/2006/main">
            <a:r>
              <a:t/>
            </a:r>
          </a:p>
          <a:p xmlns:a="http://schemas.openxmlformats.org/drawingml/2006/main">
            <a:r>
              <a:t>SPEECH</a:t>
            </a:r>
          </a:p>
          <a:p xmlns:a="http://schemas.openxmlformats.org/drawingml/2006/main">
            <a:r>
              <a:t/>
            </a:r>
          </a:p>
          <a:p xmlns:a="http://schemas.openxmlformats.org/drawingml/2006/main">
            <a:r>
              <a:t>Our contribution has a precise scope. We derived an exact calculation of joint label and signed preference uncertainty for binary labels linked by implications. Each candidate pair reduces to a minimum cut problem. We also derived a conservative extension for a declared number of structural hierarchy faults and documented cases where flat labels invent impossible uncertainty.</a:t>
            </a:r>
          </a:p>
          <a:p xmlns:a="http://schemas.openxmlformats.org/drawingml/2006/main">
            <a:r>
              <a:t/>
            </a:r>
          </a:p>
          <a:p xmlns:a="http://schemas.openxmlformats.org/drawingml/2006/main">
            <a:r>
              <a:t>Maximum flow, minimax regret and hierarchical tagging already exist in the literature. We attribute those methods. The specialized formulation is a candidate research contribution; our searches do not prove worldwide originality.</a:t>
            </a:r>
          </a:p>
          <a:p xmlns:a="http://schemas.openxmlformats.org/drawingml/2006/main">
            <a:r>
              <a:t/>
            </a:r>
          </a:p>
          <a:p xmlns:a="http://schemas.openxmlformats.org/drawingml/2006/main">
            <a:r>
              <a:t>We strengthened its evaluation using held out outcomes in movies, books and actual song recordings. The measured benefit is small, conditional metadata lookup savings. The evaluation also identifies relevance failures and a validation selected fallback. Those limitations are part of the result rather than missing information.</a:t>
            </a:r>
          </a:p>
          <a:p xmlns:a="http://schemas.openxmlformats.org/drawingml/2006/main">
            <a:r>
              <a:t/>
            </a:r>
          </a:p>
          <a:p xmlns:a="http://schemas.openxmlformats.org/drawingml/2006/main">
            <a:r>
              <a:t>We have not established linked user transfer across the three domains, actual API or human question savings, universal cold start improvement, or a stronger language model. The earlier tiny student experiment did not outperform the hosted teacher. The next substantial test needs reliable independent annotations, a better validated preference model and measured acquisition costs, followed by linked user or prospective user evaluation. Our current result shows when hierarchical consistency helps calculate uncertainty, and why that alone does not guarantee better recommendations.</a:t>
            </a:r>
          </a:p>
          <a:p xmlns:a="http://schemas.openxmlformats.org/drawingml/2006/main">
            <a:r>
              <a:t/>
            </a:r>
          </a:p>
          <a:p xmlns:a="http://schemas.openxmlformats.org/drawingml/2006/main">
            <a:r>
              <a:t>Study guide: docs/milestone2/presenter-pack/technical-handbook.md</a:t>
            </a:r>
          </a:p>
          <a:p xmlns:a="http://schemas.openxmlformats.org/drawingml/2006/main">
            <a:r>
              <a:t>Question bank: docs/milestone2/presenter-pack/presenter-question-bank.md</a:t>
            </a:r>
          </a:p>
          <a:p xmlns:a="http://schemas.openxmlformats.org/drawingml/2006/main">
            <a:r>
              <a:t/>
            </a:r>
          </a:p>
          <a:p xmlns:a="http://schemas.openxmlformats.org/drawingml/2006/main">
            <a:r>
              <a:t>SOURCE EVIDENCE</a:t>
            </a:r>
          </a:p>
          <a:p xmlns:a="http://schemas.openxmlformats.org/drawingml/2006/main">
            <a:r>
              <a:t>Own preserved first-run comparison: docs/milestone2/hierarchy/domains/RESULT.md and comparison.json. Movie source https://grouplens.org/datasets/movielens/20m/ and LTO https://zenodo.org/records/19367236 . Books https://github.com/zygmuntz/goodbooks-10k . Songs https://github.com/jlieth/lastfm-dataset-1K-extended and recording genre labels https://mtg.github.io/acousticbrainz-genre-dataset/data/ ; label release https://zenodo.org/records/2553414 . EASE https://arxiv.org/abs/1905.03375 . These are independent within-domain tests. User IDs are not aligned across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2e0bb8f85543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b3c169fb2141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4cebbffc5340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e802698aed43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388c441d2944b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7c367ff17c48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326879-0245-457E-8A59-214ECBA5DD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D4B775-C8BB-4CC8-85A0-FBB9D9DD15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A27226-D7B2-4CB0-AB0B-7564B8E966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645615-3506-49BA-81DC-D8F08296D1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9F975D-B153-4CD7-A98C-3F4B425822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F1D923-776C-4C53-80AC-3BC96E2DD3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3FC937-7621-40A5-A01F-C1692D3E62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1B08E4-850B-4704-9E9E-A93D71922B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79FB32-CAF3-4237-986A-401E36D191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FCFEA7-7FB2-48B8-AC65-50B0F0D18E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f597b7e15b4ac7" /><Relationship Type="http://schemas.openxmlformats.org/officeDocument/2006/relationships/slideLayout" Target="/ppt/slideLayouts/slideLayout1.xml" Id="R4d25d6dc255a4874" /><Relationship Type="http://schemas.openxmlformats.org/officeDocument/2006/relationships/slideLayout" Target="/ppt/slideLayouts/slideLayout2.xml" Id="Rf3c57dc925404a8f" /><Relationship Type="http://schemas.openxmlformats.org/officeDocument/2006/relationships/slideLayout" Target="/ppt/slideLayouts/slideLayout3.xml" Id="Re400256e7596459f" /><Relationship Type="http://schemas.openxmlformats.org/officeDocument/2006/relationships/slideLayout" Target="/ppt/slideLayouts/slideLayout4.xml" Id="Rfba1416841e54595" /><Relationship Type="http://schemas.openxmlformats.org/officeDocument/2006/relationships/slideLayout" Target="/ppt/slideLayouts/slideLayout5.xml" Id="Rb73e3867ad6a4d84" /><Relationship Type="http://schemas.openxmlformats.org/officeDocument/2006/relationships/slideLayout" Target="/ppt/slideLayouts/slideLayout6.xml" Id="Rc89c8b3b5c464d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25d6dc255a4874"/>
    <p:sldLayoutId xmlns:r="http://schemas.openxmlformats.org/officeDocument/2006/relationships" id="2147483650" r:id="Rf3c57dc925404a8f"/>
    <p:sldLayoutId xmlns:r="http://schemas.openxmlformats.org/officeDocument/2006/relationships" id="2147483651" r:id="Re400256e7596459f"/>
    <p:sldLayoutId xmlns:r="http://schemas.openxmlformats.org/officeDocument/2006/relationships" id="2147483652" r:id="Rfba1416841e54595"/>
    <p:sldLayoutId xmlns:r="http://schemas.openxmlformats.org/officeDocument/2006/relationships" id="2147483653" r:id="Rb73e3867ad6a4d84"/>
    <p:sldLayoutId xmlns:r="http://schemas.openxmlformats.org/officeDocument/2006/relationships" id="2147483654" r:id="Rc89c8b3b5c464d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f5565fc0d44f2b" /><Relationship Type="http://schemas.openxmlformats.org/officeDocument/2006/relationships/notesSlide" Target="/ppt/notesSlides/notesSlide1.xml" Id="Rbb67b75bfad344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e2b81f09c4402c" /><Relationship Type="http://schemas.openxmlformats.org/officeDocument/2006/relationships/notesSlide" Target="/ppt/notesSlides/notesSlide2.xml" Id="R665e395dbb4a4b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787bddeeb84359" /><Relationship Type="http://schemas.openxmlformats.org/officeDocument/2006/relationships/notesSlide" Target="/ppt/notesSlides/notesSlide3.xml" Id="R9d0292602a9848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c72e875189439a" /><Relationship Type="http://schemas.openxmlformats.org/officeDocument/2006/relationships/notesSlide" Target="/ppt/notesSlides/notesSlide4.xml" Id="R06b238dd0a034f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645ee39dfe432b" /><Relationship Type="http://schemas.openxmlformats.org/officeDocument/2006/relationships/chart" Target="/ppt/slides/charts/chart1.xml" Id="R5268bf29c0cd4d66" /><Relationship Type="http://schemas.openxmlformats.org/officeDocument/2006/relationships/notesSlide" Target="/ppt/notesSlides/notesSlide5.xml" Id="R5f80b956018546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95b9b3a457477b" /><Relationship Type="http://schemas.openxmlformats.org/officeDocument/2006/relationships/notesSlide" Target="/ppt/notesSlides/notesSlide6.xml" Id="Rfc9cf3f3d65f42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43c3e4026f44a88" /><Relationship Type="http://schemas.openxmlformats.org/officeDocument/2006/relationships/notesSlide" Target="/ppt/notesSlides/notesSlide7.xml" Id="Rf138cf1994a648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03b75ab6c54d00" /><Relationship Type="http://schemas.openxmlformats.org/officeDocument/2006/relationships/notesSlide" Target="/ppt/notesSlides/notesSlide8.xml" Id="Rf48b347e7f4648a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Profiles saving lookups</c:v>
          </c:tx>
          <c:spPr>
            <a:solidFill xmlns:a="http://schemas.openxmlformats.org/drawingml/2006/main">
              <a:srgbClr val="205941"/>
            </a:solidFill>
          </c:spPr>
          <c:invertIfNegative val="0"/>
          <c:cat>
            <c:strRef>
              <c:f>'Chart Data'!$A$2:$A$4</c:f>
              <c:strCache>
                <c:ptCount val="3"/>
                <c:pt idx="0">
                  <c:v>Movies</c:v>
                </c:pt>
                <c:pt idx="1">
                  <c:v>Books</c:v>
                </c:pt>
                <c:pt idx="2">
                  <c:v>Songs</c:v>
                </c:pt>
              </c:strCache>
            </c:strRef>
          </c:cat>
          <c:val>
            <c:numRef>
              <c:f>'Chart Data'!$B$2:$B$4</c:f>
              <c:numCache>
                <c:formatCode>0%</c:formatCode>
                <c:ptCount val="3"/>
                <c:pt idx="0">
                  <c:v>0.059375</c:v>
                </c:pt>
                <c:pt idx="1">
                  <c:v>0.040625</c:v>
                </c:pt>
                <c:pt idx="2">
                  <c:v>0.027624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Helvetica Neue"/>
                <a:ea typeface="Helvetica Neue"/>
                <a:cs typeface="Helvetica Neue"/>
              </a:defRPr>
            </a:pPr>
          </a:p>
        </c:txPr>
        <c:crossAx val="48672768"/>
      </c:catAx>
      <c:valAx>
        <c:axId val="48672768"/>
        <c:scaling>
          <c:orientation val="minMax"/>
          <c:max val="0.08"/>
          <c:min val="0"/>
        </c:scaling>
        <c:delete val="0"/>
        <c:axPos val="l"/>
        <c:majorGridlines>
          <c:spPr>
            <a:ln xmlns:a="http://schemas.openxmlformats.org/drawingml/2006/main" w="9525">
              <a:solidFill>
                <a:srgbClr val="CAD5C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0594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18FD171-03F2-49CE-AAB3-F5F466302D54}"/>
              </a:ext>
            </a:extLst>
          </p:cNvPr>
          <p:cNvSpPr>
            <a:spLocks xmlns:a="http://schemas.openxmlformats.org/drawingml/2006/main" noGrp="1"/>
          </p:cNvSpPr>
          <p:nvPr/>
        </p:nvSpPr>
        <p:spPr>
          <a:xfrm xmlns:a="http://schemas.openxmlformats.org/drawingml/2006/main">
            <a:off x="666750" y="742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Helvetica Neue"/>
                <a:ea typeface="Helvetica Neue"/>
                <a:cs typeface="Helvetica Neue"/>
              </a:defRPr>
            </a:defPPr>
          </a:lstStyle>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Recros</a:t>
            </a:r>
          </a:p>
        </p:txBody>
      </p:sp>
      <p:sp>
        <p:nvSpPr>
          <p:cNvPr id="2" name="">
            <a:extLst xmlns:a="http://schemas.openxmlformats.org/drawingml/2006/main">
              <a:ext uri="{FF2B5EF4-FFF2-40B4-BE49-F238E27FC236}">
                <a16:creationId xmlns:a16="http://schemas.microsoft.com/office/drawing/2014/main" id="{CD1F7C4D-4775-49A0-AD50-F7487B5E67D6}"/>
              </a:ext>
            </a:extLst>
          </p:cNvPr>
          <p:cNvSpPr>
            <a:spLocks xmlns:a="http://schemas.openxmlformats.org/drawingml/2006/main" noGrp="1"/>
          </p:cNvSpPr>
          <p:nvPr/>
        </p:nvSpPr>
        <p:spPr>
          <a:xfrm xmlns:a="http://schemas.openxmlformats.org/drawingml/2006/main">
            <a:off x="704850" y="2228850"/>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Helvetica Neue"/>
                <a:ea typeface="Helvetica Neue"/>
                <a:cs typeface="Helvetica Neue"/>
              </a:defRPr>
            </a:defPPr>
          </a:lstStyle>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Tests in movies,</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books and songs</a:t>
            </a:r>
          </a:p>
        </p:txBody>
      </p:sp>
      <p:sp>
        <p:nvSpPr>
          <p:cNvPr id="3" name="">
            <a:extLst xmlns:a="http://schemas.openxmlformats.org/drawingml/2006/main">
              <a:ext uri="{FF2B5EF4-FFF2-40B4-BE49-F238E27FC236}">
                <a16:creationId xmlns:a16="http://schemas.microsoft.com/office/drawing/2014/main" id="{6DF527F9-03C0-46B8-A641-DFB94D636EBB}"/>
              </a:ext>
            </a:extLst>
          </p:cNvPr>
          <p:cNvSpPr>
            <a:spLocks xmlns:a="http://schemas.openxmlformats.org/drawingml/2006/main" noGrp="1"/>
          </p:cNvSpPr>
          <p:nvPr/>
        </p:nvSpPr>
        <p:spPr>
          <a:xfrm xmlns:a="http://schemas.openxmlformats.org/drawingml/2006/main">
            <a:off x="723900" y="5467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DE9DE"/>
                </a:solidFill>
                <a:latin typeface="Helvetica Neue"/>
                <a:ea typeface="Helvetica Neue"/>
                <a:cs typeface="Helvetica Neue"/>
              </a:defRPr>
            </a:defPPr>
          </a:lstStyle>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Independent relevance outcomes and annotation effort</a:t>
            </a:r>
          </a:p>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Three-domain research follow-up</a:t>
            </a:r>
          </a:p>
        </p:txBody>
      </p:sp>
    </p:spTree>
    <p:extLst>
      <p:ext uri="{BB962C8B-B14F-4D97-AF65-F5344CB8AC3E}">
        <p14:creationId xmlns:p14="http://schemas.microsoft.com/office/powerpoint/2010/main" val="508086438"/>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69C074-3EF2-418A-8FE6-1505968F3200}"/>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Independent data and held-out profiles</a:t>
            </a:r>
          </a:p>
        </p:txBody>
      </p:sp>
      <p:graphicFrame>
        <p:nvGraphicFramePr>
          <p:cNvPr id="2" name="">
            <a:extLst xmlns:a="http://schemas.openxmlformats.org/drawingml/2006/main">
              <a:ext uri="{FF2B5EF4-FFF2-40B4-BE49-F238E27FC236}">
                <a16:creationId xmlns:a16="http://schemas.microsoft.com/office/drawing/2014/main" id="{53CCB2A4-0F50-4ADA-BC86-F0AEFBC1ECA4}"/>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1524000"/>
                <a:gridCol w="3371850"/>
                <a:gridCol w="2381250"/>
                <a:gridCol w="1428750"/>
                <a:gridCol w="2190750"/>
              </a:tblGrid>
              <a:tr h="797719">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Source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Test catalog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Profiles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Split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97719">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MovieLens + LTO</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789 films</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Chronological</a:t>
                      </a:r>
                    </a:p>
                  </a:txBody>
                  <a:tcPr marL="91440" marR="91440" marT="45720" marB="45720">
                    <a:lnR w="9525">
                      <a:solidFill>
                        <a:srgbClr val="CAD5CC"/>
                      </a:solidFill>
                      <a:prstDash val="solid"/>
                    </a:lnR>
                    <a:lnB w="9525">
                      <a:solidFill>
                        <a:srgbClr val="CAD5CC"/>
                      </a:solidFill>
                      <a:prstDash val="solid"/>
                    </a:lnB>
                    <a:solidFill>
                      <a:srgbClr val="FFFFFF"/>
                    </a:solidFill>
                  </a:tcPr>
                </a:tc>
              </a:tr>
              <a:tr h="797719">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Goodbooks-10k</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3,000 books</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Random</a:t>
                      </a:r>
                    </a:p>
                  </a:txBody>
                  <a:tcPr marL="91440" marR="91440" marT="45720" marB="45720">
                    <a:lnR w="9525">
                      <a:solidFill>
                        <a:srgbClr val="CAD5CC"/>
                      </a:solidFill>
                      <a:prstDash val="solid"/>
                    </a:lnR>
                    <a:lnB w="9525">
                      <a:solidFill>
                        <a:srgbClr val="CAD5CC"/>
                      </a:solidFill>
                      <a:prstDash val="solid"/>
                    </a:lnB>
                    <a:solidFill>
                      <a:srgbClr val="E9EFE9"/>
                    </a:solidFill>
                  </a:tcPr>
                </a:tc>
              </a:tr>
              <a:tr h="797719">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Last.fm + AcousticBrainz</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2,000 recordings</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181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Chronological</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E6BFC81-DA8D-4E0D-964D-8CFCD250BC50}"/>
              </a:ext>
            </a:extLst>
          </p:cNvPr>
          <p:cNvSpPr>
            <a:spLocks xmlns:a="http://schemas.openxmlformats.org/drawingml/2006/main" noGrp="1"/>
          </p:cNvSpPr>
          <p:nvPr/>
        </p:nvSpPr>
        <p:spPr>
          <a:xfrm xmlns:a="http://schemas.openxmlformats.org/drawingml/2006/main">
            <a:off x="666750" y="52292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Book ratings and song plays are different outcomes.</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Song identities join by exact recording MusicBrainz IDs.</a:t>
            </a:r>
          </a:p>
        </p:txBody>
      </p:sp>
      <p:sp>
        <p:nvSpPr>
          <p:cNvPr id="4" name="">
            <a:extLst xmlns:a="http://schemas.openxmlformats.org/drawingml/2006/main">
              <a:ext uri="{FF2B5EF4-FFF2-40B4-BE49-F238E27FC236}">
                <a16:creationId xmlns:a16="http://schemas.microsoft.com/office/drawing/2014/main" id="{0EE45F32-DB63-445E-BCAF-AC2E03525E9E}"/>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book/song catalogs are popular-item subsets chosen from disjoint background data. Scores do not represent standard full-dataset leaderboards.</a:t>
            </a:r>
          </a:p>
        </p:txBody>
      </p:sp>
    </p:spTree>
    <p:extLst>
      <p:ext uri="{BB962C8B-B14F-4D97-AF65-F5344CB8AC3E}">
        <p14:creationId xmlns:p14="http://schemas.microsoft.com/office/powerpoint/2010/main" val="81081545"/>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F30B16-D3F6-4364-875B-7DBBCEF64458}"/>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Ranking gains remain unestablished</a:t>
            </a:r>
          </a:p>
        </p:txBody>
      </p:sp>
      <p:graphicFrame>
        <p:nvGraphicFramePr>
          <p:cNvPr id="2" name="">
            <a:extLst xmlns:a="http://schemas.openxmlformats.org/drawingml/2006/main">
              <a:ext uri="{FF2B5EF4-FFF2-40B4-BE49-F238E27FC236}">
                <a16:creationId xmlns:a16="http://schemas.microsoft.com/office/drawing/2014/main" id="{E111FD99-9C88-482C-B42A-BC7E2C3B03F4}"/>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1752600"/>
                <a:gridCol w="2286000"/>
                <a:gridCol w="2286000"/>
                <a:gridCol w="2286000"/>
                <a:gridCol w="228600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Reference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EASE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regret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0.2385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0.2320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0.2311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0.2322</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0.6190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0.6368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0.5999</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0.5994</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0.1649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0.1813</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0.1586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0.1589</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14E24BB-DF6B-4858-AAC9-BCBF9BBA7844}"/>
              </a:ext>
            </a:extLst>
          </p:cNvPr>
          <p:cNvSpPr>
            <a:spLocks xmlns:a="http://schemas.openxmlformats.org/drawingml/2006/main" noGrp="1"/>
          </p:cNvSpPr>
          <p:nvPr/>
        </p:nvSpPr>
        <p:spPr>
          <a:xfrm xmlns:a="http://schemas.openxmlformats.org/drawingml/2006/main">
            <a:off x="666750" y="51435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Every hierarchy − flat confidence interval includes zero.</a:t>
            </a:r>
          </a:p>
        </p:txBody>
      </p:sp>
      <p:sp>
        <p:nvSpPr>
          <p:cNvPr id="4" name="">
            <a:extLst xmlns:a="http://schemas.openxmlformats.org/drawingml/2006/main">
              <a:ext uri="{FF2B5EF4-FFF2-40B4-BE49-F238E27FC236}">
                <a16:creationId xmlns:a16="http://schemas.microsoft.com/office/drawing/2014/main" id="{63AB1EBF-1A09-487A-B787-34F11570836D}"/>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NDCG@5 at 50% missing labels and fixed nonzero theme weight. Each row shares candidates. Comparisons between datasets have different splits and outcomes.</a:t>
            </a:r>
          </a:p>
        </p:txBody>
      </p:sp>
    </p:spTree>
    <p:extLst>
      <p:ext uri="{BB962C8B-B14F-4D97-AF65-F5344CB8AC3E}">
        <p14:creationId xmlns:p14="http://schemas.microsoft.com/office/powerpoint/2010/main" val="1495802502"/>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FB21DC-70CD-4869-AAA4-FF0C6B112986}"/>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Small annotation savings in each domain</a:t>
            </a:r>
          </a:p>
        </p:txBody>
      </p:sp>
      <p:graphicFrame>
        <p:nvGraphicFramePr>
          <p:cNvPr id="2" name="">
            <a:extLst xmlns:a="http://schemas.openxmlformats.org/drawingml/2006/main">
              <a:ext uri="{FF2B5EF4-FFF2-40B4-BE49-F238E27FC236}">
                <a16:creationId xmlns:a16="http://schemas.microsoft.com/office/drawing/2014/main" id="{21C2A491-7C96-4182-AAA4-D4C18B3E90B3}"/>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2324100"/>
                <a:gridCol w="2857500"/>
                <a:gridCol w="2857500"/>
                <a:gridCol w="285750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lookups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Reduction</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6.86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6.42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6.5%</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15.32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14.95</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2.4%</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12.25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12.09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1.3%</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804EEEF-91FA-481B-B44D-88E7AA46A8E7}"/>
              </a:ext>
            </a:extLst>
          </p:cNvPr>
          <p:cNvSpPr>
            <a:spLocks xmlns:a="http://schemas.openxmlformats.org/drawingml/2006/main" noGrp="1"/>
          </p:cNvSpPr>
          <p:nvPr/>
        </p:nvSpPr>
        <p:spPr>
          <a:xfrm xmlns:a="http://schemas.openxmlformats.org/drawingml/2006/main">
            <a:off x="666750" y="5143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The five recommendations remain exactly identical.</a:t>
            </a:r>
          </a:p>
        </p:txBody>
      </p:sp>
      <p:sp>
        <p:nvSpPr>
          <p:cNvPr id="4" name="">
            <a:extLst xmlns:a="http://schemas.openxmlformats.org/drawingml/2006/main">
              <a:ext uri="{FF2B5EF4-FFF2-40B4-BE49-F238E27FC236}">
                <a16:creationId xmlns:a16="http://schemas.microsoft.com/office/drawing/2014/main" id="{A7D234BC-18E7-464F-8622-89E94C847884}"/>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50% mask and 24-lookup cap. Certificates concern the first pick and the declared model. Lookup counts include unsuccessful runs and do not measure real API calls.</a:t>
            </a:r>
          </a:p>
        </p:txBody>
      </p:sp>
    </p:spTree>
    <p:extLst>
      <p:ext uri="{BB962C8B-B14F-4D97-AF65-F5344CB8AC3E}">
        <p14:creationId xmlns:p14="http://schemas.microsoft.com/office/powerpoint/2010/main" val="662221556"/>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DBB9EA-5202-417B-8201-64CA1E889257}"/>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Only a minority of profiles save lookups</a:t>
            </a:r>
          </a:p>
        </p:txBody>
      </p:sp>
      <p:graphicFrame>
        <p:nvGraphicFramePr>
          <p:cNvPr id="2" name="Chart">
            <a:extLst xmlns:a="http://schemas.openxmlformats.org/drawingml/2006/main">
              <a:ext uri="{FF2B5EF4-FFF2-40B4-BE49-F238E27FC236}">
                <a16:creationId xmlns:a16="http://schemas.microsoft.com/office/drawing/2014/main" id="{2F146176-5CA0-4DBC-BD08-15CD2B12CB29}"/>
              </a:ext>
            </a:extLst>
          </p:cNvPr>
          <p:cNvGraphicFramePr/>
          <p:nvPr/>
        </p:nvGraphicFramePr>
        <p:xfrm>
          <a:off xmlns:a="http://schemas.openxmlformats.org/drawingml/2006/main" x="857250" y="171450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5268bf29c0cd4d66"/>
          </a:graphicData>
        </a:graphic>
      </p:graphicFrame>
      <p:sp>
        <p:nvSpPr>
          <p:cNvPr id="3" name="">
            <a:extLst xmlns:a="http://schemas.openxmlformats.org/drawingml/2006/main">
              <a:ext uri="{FF2B5EF4-FFF2-40B4-BE49-F238E27FC236}">
                <a16:creationId xmlns:a16="http://schemas.microsoft.com/office/drawing/2014/main" id="{1CC82D8B-BD37-496B-9C2A-0DB9C5DB3181}"/>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Profiles with any lookup saving at 50% masking: 19/320 movies, 13/320 books and 5/181 songs. The gain is small and concentrated.</a:t>
            </a:r>
          </a:p>
        </p:txBody>
      </p:sp>
    </p:spTree>
    <p:extLst>
      <p:ext uri="{BB962C8B-B14F-4D97-AF65-F5344CB8AC3E}">
        <p14:creationId xmlns:p14="http://schemas.microsoft.com/office/powerpoint/2010/main" val="2140705794"/>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91F069-A6E8-4559-9C70-B3AEC8F1C859}"/>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Severe missingness often prevents a certificate</a:t>
            </a:r>
          </a:p>
        </p:txBody>
      </p:sp>
      <p:graphicFrame>
        <p:nvGraphicFramePr>
          <p:cNvPr id="2" name="">
            <a:extLst xmlns:a="http://schemas.openxmlformats.org/drawingml/2006/main">
              <a:ext uri="{FF2B5EF4-FFF2-40B4-BE49-F238E27FC236}">
                <a16:creationId xmlns:a16="http://schemas.microsoft.com/office/drawing/2014/main" id="{BC620623-2A5B-475A-827C-A15D6F6A9134}"/>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2800350"/>
                <a:gridCol w="2857500"/>
                <a:gridCol w="3333750"/>
                <a:gridCol w="1905000"/>
              </a:tblGrid>
              <a:tr h="738188">
                <a:tc>
                  <a:txBody>
                    <a:bodyPr/>
                    <a:lstStyle/>
                    <a:p>
                      <a:r>
                        <a:rPr sz="1875" b="1">
                          <a:solidFill>
                            <a:srgbClr val="FFFFFF"/>
                          </a:solidFill>
                          <a:latin typeface="Helvetica Neue"/>
                          <a:ea typeface="Helvetica Neue"/>
                          <a:cs typeface="Helvetica Neue"/>
                        </a:rPr>
                        <a:t>75% missing</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Flat certified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Hierarchy certified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Profiles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119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129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39</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42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320</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59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181</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2222E35-9442-4BF0-8768-C8E786D0C006}"/>
              </a:ext>
            </a:extLst>
          </p:cNvPr>
          <p:cNvSpPr>
            <a:spLocks xmlns:a="http://schemas.openxmlformats.org/drawingml/2006/main" noGrp="1"/>
          </p:cNvSpPr>
          <p:nvPr/>
        </p:nvSpPr>
        <p:spPr>
          <a:xfrm xmlns:a="http://schemas.openxmlformats.org/drawingml/2006/main">
            <a:off x="666750" y="50958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1"/>
                </a:solidFill>
                <a:latin typeface="Helvetica Neue"/>
                <a:ea typeface="Helvetica Neue"/>
                <a:cs typeface="Helvetica Neue"/>
              </a:defRPr>
            </a:defPPr>
          </a:lstStyle>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Book and movie reranking also loses relevance</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against the reference in this stress condition.</a:t>
            </a:r>
          </a:p>
        </p:txBody>
      </p:sp>
      <p:sp>
        <p:nvSpPr>
          <p:cNvPr id="4" name="">
            <a:extLst xmlns:a="http://schemas.openxmlformats.org/drawingml/2006/main">
              <a:ext uri="{FF2B5EF4-FFF2-40B4-BE49-F238E27FC236}">
                <a16:creationId xmlns:a16="http://schemas.microsoft.com/office/drawing/2014/main" id="{85F80ECA-77EE-4453-864D-22AC5480BE31}"/>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matching certificate assumes adequate preference intervals and correct facts. High budget-limited failure remains part of the result.</a:t>
            </a:r>
          </a:p>
        </p:txBody>
      </p:sp>
    </p:spTree>
    <p:extLst>
      <p:ext uri="{BB962C8B-B14F-4D97-AF65-F5344CB8AC3E}">
        <p14:creationId xmlns:p14="http://schemas.microsoft.com/office/powerpoint/2010/main" val="2056195907"/>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C321EF-A120-4A26-812F-1907F4C9A284}"/>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Validation retains the reference ranking</a:t>
            </a:r>
          </a:p>
        </p:txBody>
      </p:sp>
      <p:graphicFrame>
        <p:nvGraphicFramePr>
          <p:cNvPr id="2" name="">
            <a:extLst xmlns:a="http://schemas.openxmlformats.org/drawingml/2006/main">
              <a:ext uri="{FF2B5EF4-FFF2-40B4-BE49-F238E27FC236}">
                <a16:creationId xmlns:a16="http://schemas.microsoft.com/office/drawing/2014/main" id="{529C620E-21E6-4DE4-A361-821181FC5C86}"/>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1847850"/>
                <a:gridCol w="3333750"/>
                <a:gridCol w="3333750"/>
                <a:gridCol w="2381250"/>
              </a:tblGrid>
              <a:tr h="738188">
                <a:tc>
                  <a:txBody>
                    <a:bodyPr/>
                    <a:lstStyle/>
                    <a:p>
                      <a:r>
                        <a:rPr sz="1875" b="1">
                          <a:solidFill>
                            <a:srgbClr val="FFFFFF"/>
                          </a:solidFill>
                          <a:latin typeface="Helvetica Neue"/>
                          <a:ea typeface="Helvetica Neue"/>
                          <a:cs typeface="Helvetica Neue"/>
                        </a:rPr>
                        <a:t>Domain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Reference NDCG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EASE NDCG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Theme weight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Movies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0.2385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0.2247</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Books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0.6190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0.6455</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Songs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0.1649</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0.1832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965212F-DBD9-41B1-AB28-2EF0F3F35247}"/>
              </a:ext>
            </a:extLst>
          </p:cNvPr>
          <p:cNvSpPr>
            <a:spLocks xmlns:a="http://schemas.openxmlformats.org/drawingml/2006/main" noGrp="1"/>
          </p:cNvSpPr>
          <p:nvPr/>
        </p:nvSpPr>
        <p:spPr>
          <a:xfrm xmlns:a="http://schemas.openxmlformats.org/drawingml/2006/main">
            <a:off x="666750" y="51435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1"/>
                </a:solidFill>
                <a:latin typeface="Helvetica Neue"/>
                <a:ea typeface="Helvetica Neue"/>
                <a:cs typeface="Helvetica Neue"/>
              </a:defRPr>
            </a:defPPr>
          </a:lstStyle>
          <a:p xmlns:a="http://schemas.openxmlformats.org/drawingml/2006/main">
            <a:pPr>
              <a:defRPr sz="2400" b="0">
                <a:solidFill>
                  <a:srgbClr val="173C31"/>
                </a:solidFill>
                <a:latin typeface="Helvetica Neue"/>
                <a:ea typeface="Helvetica Neue"/>
                <a:cs typeface="Helvetica Neue"/>
              </a:defRPr>
            </a:pPr>
            <a:r>
              <a:rPr sz="2400" b="0">
                <a:solidFill>
                  <a:srgbClr val="173C31"/>
                </a:solidFill>
                <a:latin typeface="Helvetica Neue"/>
                <a:ea typeface="Helvetica Neue"/>
                <a:cs typeface="Helvetica Neue"/>
              </a:rPr>
              <a:t>Genre constraints do not replace preference learning.</a:t>
            </a:r>
          </a:p>
        </p:txBody>
      </p:sp>
      <p:sp>
        <p:nvSpPr>
          <p:cNvPr id="4" name="">
            <a:extLst xmlns:a="http://schemas.openxmlformats.org/drawingml/2006/main">
              <a:ext uri="{FF2B5EF4-FFF2-40B4-BE49-F238E27FC236}">
                <a16:creationId xmlns:a16="http://schemas.microsoft.com/office/drawing/2014/main" id="{37560B9F-A74E-4048-A0AC-29F08F18C29D}"/>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Full-catalog baseline audit. Zero weight is a validation-selected fallback in the paired model family. It is not evidence of hierarchy accuracy improvement.</a:t>
            </a:r>
          </a:p>
        </p:txBody>
      </p:sp>
    </p:spTree>
    <p:extLst>
      <p:ext uri="{BB962C8B-B14F-4D97-AF65-F5344CB8AC3E}">
        <p14:creationId xmlns:p14="http://schemas.microsoft.com/office/powerpoint/2010/main" val="445616702"/>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A545E1-90CF-4382-937B-FC10E8FA60DD}"/>
              </a:ext>
            </a:extLst>
          </p:cNvPr>
          <p:cNvSpPr>
            <a:spLocks xmlns:a="http://schemas.openxmlformats.org/drawingml/2006/main" noGrp="1"/>
          </p:cNvSpPr>
          <p:nvPr/>
        </p:nvSpPr>
        <p:spPr>
          <a:xfrm xmlns:a="http://schemas.openxmlformats.org/drawingml/2006/main">
            <a:off x="647700" y="4572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What the three-domain extension establishes</a:t>
            </a:r>
          </a:p>
        </p:txBody>
      </p:sp>
      <p:graphicFrame>
        <p:nvGraphicFramePr>
          <p:cNvPr id="2" name="">
            <a:extLst xmlns:a="http://schemas.openxmlformats.org/drawingml/2006/main">
              <a:ext uri="{FF2B5EF4-FFF2-40B4-BE49-F238E27FC236}">
                <a16:creationId xmlns:a16="http://schemas.microsoft.com/office/drawing/2014/main" id="{91493177-12E8-448A-872E-9408099995DE}"/>
              </a:ext>
            </a:extLst>
          </p:cNvPr>
          <p:cNvGraphicFramePr/>
          <p:nvPr/>
        </p:nvGraphicFramePr>
        <p:xfrm>
          <a:off xmlns:a="http://schemas.openxmlformats.org/drawingml/2006/main" x="647700" y="1714500"/>
          <a:ext xmlns:a="http://schemas.openxmlformats.org/drawingml/2006/main" cx="10896600" cy="3333750"/>
        </p:xfrm>
        <a:graphic xmlns:a="http://schemas.openxmlformats.org/drawingml/2006/main">
          <a:graphicData uri="http://schemas.openxmlformats.org/drawingml/2006/table">
            <a:tbl>
              <a:tblPr/>
              <a:tblGrid>
                <a:gridCol w="5429250"/>
                <a:gridCol w="5467350"/>
              </a:tblGrid>
              <a:tr h="666750">
                <a:tc>
                  <a:txBody>
                    <a:bodyPr/>
                    <a:lstStyle/>
                    <a:p>
                      <a:r>
                        <a:rPr sz="1875" b="1">
                          <a:solidFill>
                            <a:srgbClr val="FFFFFF"/>
                          </a:solidFill>
                          <a:latin typeface="Helvetica Neue"/>
                          <a:ea typeface="Helvetica Neue"/>
                          <a:cs typeface="Helvetica Neue"/>
                        </a:rPr>
                        <a:t>Established in these tests</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Still unestablished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66750">
                <a:tc>
                  <a:txBody>
                    <a:bodyPr/>
                    <a:lstStyle/>
                    <a:p>
                      <a:r>
                        <a:rPr sz="1875" b="0">
                          <a:solidFill>
                            <a:srgbClr val="173C31"/>
                          </a:solidFill>
                          <a:latin typeface="Helvetica Neue"/>
                          <a:ea typeface="Helvetica Neue"/>
                          <a:cs typeface="Helvetica Neue"/>
                        </a:rPr>
                        <a:t>Exact conditional uncertainty</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Worldwide priority of the formulation</a:t>
                      </a:r>
                    </a:p>
                  </a:txBody>
                  <a:tcPr marL="91440" marR="91440" marT="45720" marB="45720">
                    <a:lnR w="9525">
                      <a:solidFill>
                        <a:srgbClr val="CAD5CC"/>
                      </a:solidFill>
                      <a:prstDash val="solid"/>
                    </a:lnR>
                    <a:lnB w="9525">
                      <a:solidFill>
                        <a:srgbClr val="CAD5CC"/>
                      </a:solidFill>
                      <a:prstDash val="solid"/>
                    </a:lnB>
                    <a:solidFill>
                      <a:srgbClr val="FFFFFF"/>
                    </a:solidFill>
                  </a:tcPr>
                </a:tc>
              </a:tr>
              <a:tr h="666750">
                <a:tc>
                  <a:txBody>
                    <a:bodyPr/>
                    <a:lstStyle/>
                    <a:p>
                      <a:r>
                        <a:rPr sz="1875" b="0">
                          <a:solidFill>
                            <a:srgbClr val="173C31"/>
                          </a:solidFill>
                          <a:latin typeface="Helvetica Neue"/>
                          <a:ea typeface="Helvetica Neue"/>
                          <a:cs typeface="Helvetica Neue"/>
                        </a:rPr>
                        <a:t>Small annotation-bit savings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Actual API or human-question savings</a:t>
                      </a:r>
                    </a:p>
                  </a:txBody>
                  <a:tcPr marL="91440" marR="91440" marT="45720" marB="45720">
                    <a:lnR w="9525">
                      <a:solidFill>
                        <a:srgbClr val="CAD5CC"/>
                      </a:solidFill>
                      <a:prstDash val="solid"/>
                    </a:lnR>
                    <a:lnB w="9525">
                      <a:solidFill>
                        <a:srgbClr val="CAD5CC"/>
                      </a:solidFill>
                      <a:prstDash val="solid"/>
                    </a:lnB>
                    <a:solidFill>
                      <a:srgbClr val="E9EFE9"/>
                    </a:solidFill>
                  </a:tcPr>
                </a:tc>
              </a:tr>
              <a:tr h="666750">
                <a:tc>
                  <a:txBody>
                    <a:bodyPr/>
                    <a:lstStyle/>
                    <a:p>
                      <a:r>
                        <a:rPr sz="1875" b="0">
                          <a:solidFill>
                            <a:srgbClr val="173C31"/>
                          </a:solidFill>
                          <a:latin typeface="Helvetica Neue"/>
                          <a:ea typeface="Helvetica Neue"/>
                          <a:cs typeface="Helvetica Neue"/>
                        </a:rPr>
                        <a:t>Real within-domain evaluation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Shared-user cross-domain transfer</a:t>
                      </a:r>
                    </a:p>
                  </a:txBody>
                  <a:tcPr marL="91440" marR="91440" marT="45720" marB="45720">
                    <a:lnR w="9525">
                      <a:solidFill>
                        <a:srgbClr val="CAD5CC"/>
                      </a:solidFill>
                      <a:prstDash val="solid"/>
                    </a:lnR>
                    <a:lnB w="9525">
                      <a:solidFill>
                        <a:srgbClr val="CAD5CC"/>
                      </a:solidFill>
                      <a:prstDash val="solid"/>
                    </a:lnB>
                    <a:solidFill>
                      <a:srgbClr val="FFFFFF"/>
                    </a:solidFill>
                  </a:tcPr>
                </a:tc>
              </a:tr>
              <a:tr h="666750">
                <a:tc>
                  <a:txBody>
                    <a:bodyPr/>
                    <a:lstStyle/>
                    <a:p>
                      <a:r>
                        <a:rPr sz="1875" b="0">
                          <a:solidFill>
                            <a:srgbClr val="173C31"/>
                          </a:solidFill>
                          <a:latin typeface="Helvetica Neue"/>
                          <a:ea typeface="Helvetica Neue"/>
                          <a:cs typeface="Helvetica Neue"/>
                        </a:rPr>
                        <a:t>Documented relevance failures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 stronger LLM/SLM recommendation model</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31FCAEA2-8917-4E91-818D-35CE20AA31DA}"/>
              </a:ext>
            </a:extLst>
          </p:cNvPr>
          <p:cNvSpPr>
            <a:spLocks xmlns:a="http://schemas.openxmlformats.org/drawingml/2006/main" noGrp="1"/>
          </p:cNvSpPr>
          <p:nvPr/>
        </p:nvSpPr>
        <p:spPr>
          <a:xfrm xmlns:a="http://schemas.openxmlformats.org/drawingml/2006/main">
            <a:off x="666750" y="60483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Protocols, per-profile predictions, query traces and the report are saved. Genre hierarchies and graph-cut machinery have attributed prior art.</a:t>
            </a:r>
          </a:p>
        </p:txBody>
      </p:sp>
    </p:spTree>
    <p:extLst>
      <p:ext uri="{BB962C8B-B14F-4D97-AF65-F5344CB8AC3E}">
        <p14:creationId xmlns:p14="http://schemas.microsoft.com/office/powerpoint/2010/main" val="1179479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2026-10-14T16:33:59.6730000Z</dcterms:created>
  <dcterms:modified xsi:type="dcterms:W3CDTF">2026-10-14T16:33:59.6730000Z</dcterms:modified>
</coreProperties>
</file>