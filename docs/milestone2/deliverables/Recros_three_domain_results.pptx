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e45fa2376c14b88" /><Relationship Type="http://schemas.openxmlformats.org/officeDocument/2006/relationships/extended-properties" Target="/docProps/app.xml" Id="R2eaa71d51de64b89" /><Relationship Type="http://schemas.openxmlformats.org/officeDocument/2006/relationships/officeDocument" Target="/ppt/presentation.xml" Id="R74a7f113b8fc4a94" /></Relationships>
</file>

<file path=ppt/presentation.xml><?xml version="1.0" encoding="utf-8"?>
<p:presentation xmlns:p="http://schemas.openxmlformats.org/presentationml/2006/main">
  <p:sldMasterIdLst>
    <p:sldMasterId xmlns:r="http://schemas.openxmlformats.org/officeDocument/2006/relationships" id="2147483648" r:id="R1e949d72e6494a9a"/>
  </p:sldMasterIdLst>
  <p:notesMasterIdLst>
    <p:notesMasterId xmlns:r="http://schemas.openxmlformats.org/officeDocument/2006/relationships" r:id="R512a20d5f9054dfb"/>
  </p:notesMasterIdLst>
  <p:sldIdLst>
    <p:sldId xmlns:r="http://schemas.openxmlformats.org/officeDocument/2006/relationships" id="256" r:id="Rb2e6dee250054b3b"/>
    <p:sldId xmlns:r="http://schemas.openxmlformats.org/officeDocument/2006/relationships" id="257" r:id="Rb194abcb2248459c"/>
    <p:sldId xmlns:r="http://schemas.openxmlformats.org/officeDocument/2006/relationships" id="258" r:id="Rb32c494362f94d2c"/>
    <p:sldId xmlns:r="http://schemas.openxmlformats.org/officeDocument/2006/relationships" id="259" r:id="Rc7dfa25a303f42e0"/>
    <p:sldId xmlns:r="http://schemas.openxmlformats.org/officeDocument/2006/relationships" id="260" r:id="R46f020ae52e64688"/>
    <p:sldId xmlns:r="http://schemas.openxmlformats.org/officeDocument/2006/relationships" id="261" r:id="Rc182245dfecf4b84"/>
    <p:sldId xmlns:r="http://schemas.openxmlformats.org/officeDocument/2006/relationships" id="262" r:id="Rf042b40b722943ab"/>
    <p:sldId xmlns:r="http://schemas.openxmlformats.org/officeDocument/2006/relationships" id="263" r:id="R42ed3c1f44a641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62e13a8a754776" /><Relationship Type="http://schemas.openxmlformats.org/officeDocument/2006/relationships/slideMaster" Target="/ppt/slideMasters/slideMaster1.xml" Id="R1e949d72e6494a9a" /><Relationship Type="http://schemas.openxmlformats.org/officeDocument/2006/relationships/notesMaster" Target="/ppt/notesMasters/notesMaster1.xml" Id="R512a20d5f9054dfb" /><Relationship Type="http://schemas.openxmlformats.org/officeDocument/2006/relationships/presProps" Target="/ppt/presProps.xml" Id="R48f0fd3b31724756" /><Relationship Type="http://schemas.openxmlformats.org/officeDocument/2006/relationships/tableStyles" Target="/ppt/tableStyles.xml" Id="R1f0d9d25644c4529" /><Relationship Type="http://schemas.openxmlformats.org/officeDocument/2006/relationships/slide" Target="/ppt/slides/slide1.xml" Id="Rb2e6dee250054b3b" /><Relationship Type="http://schemas.openxmlformats.org/officeDocument/2006/relationships/slide" Target="/ppt/slides/slide2.xml" Id="Rb194abcb2248459c" /><Relationship Type="http://schemas.openxmlformats.org/officeDocument/2006/relationships/slide" Target="/ppt/slides/slide3.xml" Id="Rb32c494362f94d2c" /><Relationship Type="http://schemas.openxmlformats.org/officeDocument/2006/relationships/slide" Target="/ppt/slides/slide4.xml" Id="Rc7dfa25a303f42e0" /><Relationship Type="http://schemas.openxmlformats.org/officeDocument/2006/relationships/slide" Target="/ppt/slides/slide5.xml" Id="R46f020ae52e64688" /><Relationship Type="http://schemas.openxmlformats.org/officeDocument/2006/relationships/slide" Target="/ppt/slides/slide6.xml" Id="Rc182245dfecf4b84" /><Relationship Type="http://schemas.openxmlformats.org/officeDocument/2006/relationships/slide" Target="/ppt/slides/slide7.xml" Id="Rf042b40b722943ab" /><Relationship Type="http://schemas.openxmlformats.org/officeDocument/2006/relationships/slide" Target="/ppt/slides/slide8.xml" Id="R42ed3c1f44a641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d14dee9ddd4f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fc111bf33c4731" /><Relationship Type="http://schemas.openxmlformats.org/officeDocument/2006/relationships/notesMaster" Target="/ppt/notesMasters/notesMaster1.xml" Id="R8d288eccafe744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a325025eea49ee" /><Relationship Type="http://schemas.openxmlformats.org/officeDocument/2006/relationships/notesMaster" Target="/ppt/notesMasters/notesMaster1.xml" Id="Re4996346ed7144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3f9c2aaaa747db" /><Relationship Type="http://schemas.openxmlformats.org/officeDocument/2006/relationships/notesMaster" Target="/ppt/notesMasters/notesMaster1.xml" Id="Rf5b2b0542a274a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3407607913410c" /><Relationship Type="http://schemas.openxmlformats.org/officeDocument/2006/relationships/notesMaster" Target="/ppt/notesMasters/notesMaster1.xml" Id="Rd438d668eae448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1ad0928fa0475d" /><Relationship Type="http://schemas.openxmlformats.org/officeDocument/2006/relationships/notesMaster" Target="/ppt/notesMasters/notesMaster1.xml" Id="Rb1122a9a378346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a8db2726f74c2a" /><Relationship Type="http://schemas.openxmlformats.org/officeDocument/2006/relationships/notesMaster" Target="/ppt/notesMasters/notesMaster1.xml" Id="R0f927e064c0f4e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4c3588718742d5" /><Relationship Type="http://schemas.openxmlformats.org/officeDocument/2006/relationships/notesMaster" Target="/ppt/notesMasters/notesMaster1.xml" Id="R4088d5dc45ac48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278c9beeec4b67" /><Relationship Type="http://schemas.openxmlformats.org/officeDocument/2006/relationships/notesMaster" Target="/ppt/notesMasters/notesMaster1.xml" Id="Re07d9d2f1f7e45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extended the movie experiment to books and actual song recordings. We measured relevance on held-out ratings or plays and measured annotation effort separately. The acquisition results are conditional on a matching model, not a guarantee of enjoyment.</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evaluated catalogs contain 789 available films, 3,000 books and 2,000 song recordings. We used 320 movie profiles, 320 book profiles and 181 song listeners. Movies and songs have chronological outcome splits. Books have a random split because explicit timestamps are unavailable. Song identities match by exact recording MusicBrainz IDs.</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compares methods within each dataset on the same 16 candidates. The outcome is NDCG at five recommendations. Hierarchy versus propagated flat labels has a confidence interval containing zero in every domain. We therefore cannot claim a ranking improvement. EASE is a stronger comparator than our nonzero theme reranker in books and songs.</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50 percent missing metadata, the hierarchy reduces mean source-reference bit lookups by 6.5 percent for movies, 2.4 percent for books and 1.3 percent for songs. Both stopping rules keep the same five-item list. The first-item certificate uses a threshold of 0.20 under the declared nonzero matching utility. Actual model APIs may return several labels per call, so these are not measured API savings.</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gains are concentrated. Nineteen of 320 movie profiles, thirteen of 320 book profiles and five of 181 song profiles save any lookups. The chart shows these frequencies, not the average lookup reduction. A tighter bound cannot stop later on the shared lookup sequence, and frequently stops at exactly the same time.</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75 percent missing metadata, many runs do not reach a certificate within 24 lookups. The table includes unsuccessful cases in its denominators. The nonzero book and movie rerankers also reduce relevance against their references in this stress condition. Correct hierarchy constraints are insufficient to establish an accurate user-preference model.</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validation run selects zero theme-reranking weight in the paired model family. This selection happened before test results were read. The fixed nonzero mechanism test is separate. When the selected utility uses zero theme weight, genre annotation cannot affect that utility and is unnecessary for its ranking. The acquisition savings therefore do not justify deploying the rejected nonzero utility model. EASE is reported separately and may be stronger than the hybrid reference.</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extension establishes independent within-domain evaluation, small conditional acquisition benefits and documented relevance failures. It does not establish shared-user transfer between films, books and songs, actual human-question savings, an SLM improvement or worldwide originality. The ontology datasets and graph-cut machinery have attributed prior art. Our candidate mathematical formulation is documented in the separate derivation.</a:t>
            </a:r>
          </a:p>
          <a:p xmlns:a="http://schemas.openxmlformats.org/drawingml/2006/main">
            <a:r>
              <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be7e78c54749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aa9bf649954e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dcdfe82d6d43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6f76a0535049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e98aa155344f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b1a81791714c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F8910-7D2F-4E73-AAAF-F183C47CB6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346DC2-0B92-4856-B27A-C37200C8E3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FD594C-36EB-48EB-B69D-8C4D247C94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55A2A6-3BD9-4914-B685-3FB1229B9B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5CF8C1-0F75-4ED1-8F27-8C0BC1FB0A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CEF6F0-4552-4B5D-98EC-D0E92DD311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C31281-892B-424F-84BE-BBF8BFC965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F34695-9857-442A-ACF0-3E21732560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48F549-9CE4-4A87-9797-4EB9F482AC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4D6F57-2F93-49CE-B1D9-4830C0F38B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f6300766474c1f" /><Relationship Type="http://schemas.openxmlformats.org/officeDocument/2006/relationships/slideLayout" Target="/ppt/slideLayouts/slideLayout1.xml" Id="Rbba5481dc7a54b1a" /><Relationship Type="http://schemas.openxmlformats.org/officeDocument/2006/relationships/slideLayout" Target="/ppt/slideLayouts/slideLayout2.xml" Id="Ra4c4955b4e1246f3" /><Relationship Type="http://schemas.openxmlformats.org/officeDocument/2006/relationships/slideLayout" Target="/ppt/slideLayouts/slideLayout3.xml" Id="Red736af2b08d4baf" /><Relationship Type="http://schemas.openxmlformats.org/officeDocument/2006/relationships/slideLayout" Target="/ppt/slideLayouts/slideLayout4.xml" Id="Red19868abe524b37" /><Relationship Type="http://schemas.openxmlformats.org/officeDocument/2006/relationships/slideLayout" Target="/ppt/slideLayouts/slideLayout5.xml" Id="R5393e71dd2c64779" /><Relationship Type="http://schemas.openxmlformats.org/officeDocument/2006/relationships/slideLayout" Target="/ppt/slideLayouts/slideLayout6.xml" Id="Rc1f1c4a8d22441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a5481dc7a54b1a"/>
    <p:sldLayoutId xmlns:r="http://schemas.openxmlformats.org/officeDocument/2006/relationships" id="2147483650" r:id="Ra4c4955b4e1246f3"/>
    <p:sldLayoutId xmlns:r="http://schemas.openxmlformats.org/officeDocument/2006/relationships" id="2147483651" r:id="Red736af2b08d4baf"/>
    <p:sldLayoutId xmlns:r="http://schemas.openxmlformats.org/officeDocument/2006/relationships" id="2147483652" r:id="Red19868abe524b37"/>
    <p:sldLayoutId xmlns:r="http://schemas.openxmlformats.org/officeDocument/2006/relationships" id="2147483653" r:id="R5393e71dd2c64779"/>
    <p:sldLayoutId xmlns:r="http://schemas.openxmlformats.org/officeDocument/2006/relationships" id="2147483654" r:id="Rc1f1c4a8d22441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9c94ea9dbb4692" /><Relationship Type="http://schemas.openxmlformats.org/officeDocument/2006/relationships/notesSlide" Target="/ppt/notesSlides/notesSlide1.xml" Id="Rfb97cadfb1f649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bcf03cd31c4891" /><Relationship Type="http://schemas.openxmlformats.org/officeDocument/2006/relationships/notesSlide" Target="/ppt/notesSlides/notesSlide2.xml" Id="R26895eae92d945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c44306d1c646b6" /><Relationship Type="http://schemas.openxmlformats.org/officeDocument/2006/relationships/notesSlide" Target="/ppt/notesSlides/notesSlide3.xml" Id="R6a9bb265f05e48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1d6727d3774b46" /><Relationship Type="http://schemas.openxmlformats.org/officeDocument/2006/relationships/notesSlide" Target="/ppt/notesSlides/notesSlide4.xml" Id="R9e2429a482ef4d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e9baf77ba14c04" /><Relationship Type="http://schemas.openxmlformats.org/officeDocument/2006/relationships/chart" Target="/ppt/slides/charts/chart1.xml" Id="R7f98522292354c9f" /><Relationship Type="http://schemas.openxmlformats.org/officeDocument/2006/relationships/notesSlide" Target="/ppt/notesSlides/notesSlide5.xml" Id="R5b009405a5eb4e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edc76a0f95641bf" /><Relationship Type="http://schemas.openxmlformats.org/officeDocument/2006/relationships/notesSlide" Target="/ppt/notesSlides/notesSlide6.xml" Id="Ra98601486b5449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59aed932dd4787" /><Relationship Type="http://schemas.openxmlformats.org/officeDocument/2006/relationships/notesSlide" Target="/ppt/notesSlides/notesSlide7.xml" Id="R138b224fec6546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353f9f69a44f09" /><Relationship Type="http://schemas.openxmlformats.org/officeDocument/2006/relationships/notesSlide" Target="/ppt/notesSlides/notesSlide8.xml" Id="R0b60639dbb3b4d0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Profiles saving lookups</c:v>
          </c:tx>
          <c:spPr>
            <a:solidFill xmlns:a="http://schemas.openxmlformats.org/drawingml/2006/main">
              <a:srgbClr val="205941"/>
            </a:solidFill>
          </c:spPr>
          <c:invertIfNegative val="0"/>
          <c:cat>
            <c:strRef>
              <c:f>'Chart Data'!$A$2:$A$4</c:f>
              <c:strCache>
                <c:ptCount val="3"/>
                <c:pt idx="0">
                  <c:v>Movies</c:v>
                </c:pt>
                <c:pt idx="1">
                  <c:v>Books</c:v>
                </c:pt>
                <c:pt idx="2">
                  <c:v>Songs</c:v>
                </c:pt>
              </c:strCache>
            </c:strRef>
          </c:cat>
          <c:val>
            <c:numRef>
              <c:f>'Chart Data'!$B$2:$B$4</c:f>
              <c:numCache>
                <c:formatCode>0%</c:formatCode>
                <c:ptCount val="3"/>
                <c:pt idx="0">
                  <c:v>0.059375</c:v>
                </c:pt>
                <c:pt idx="1">
                  <c:v>0.040625</c:v>
                </c:pt>
                <c:pt idx="2">
                  <c:v>0.027624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31"/>
                </a:solidFill>
                <a:latin typeface="Helvetica Neue"/>
                <a:ea typeface="Helvetica Neue"/>
                <a:cs typeface="Helvetica Neue"/>
              </a:defRPr>
            </a:pPr>
          </a:p>
        </c:txPr>
        <c:crossAx val="48672768"/>
      </c:catAx>
      <c:valAx>
        <c:axId val="48672768"/>
        <c:scaling>
          <c:orientation val="minMax"/>
          <c:max val="0.08"/>
          <c:min val="0"/>
        </c:scaling>
        <c:delete val="0"/>
        <c:axPos val="l"/>
        <c:majorGridlines>
          <c:spPr>
            <a:ln xmlns:a="http://schemas.openxmlformats.org/drawingml/2006/main" w="9525">
              <a:solidFill>
                <a:srgbClr val="CAD5C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0.02"/>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0594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D0AA4C1-9DA6-46FA-8024-2494ABAE5EE9}"/>
              </a:ext>
            </a:extLst>
          </p:cNvPr>
          <p:cNvSpPr>
            <a:spLocks xmlns:a="http://schemas.openxmlformats.org/drawingml/2006/main" noGrp="1"/>
          </p:cNvSpPr>
          <p:nvPr/>
        </p:nvSpPr>
        <p:spPr>
          <a:xfrm xmlns:a="http://schemas.openxmlformats.org/drawingml/2006/main">
            <a:off x="666750" y="742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FFFFF"/>
                </a:solidFill>
                <a:latin typeface="Helvetica Neue"/>
                <a:ea typeface="Helvetica Neue"/>
                <a:cs typeface="Helvetica Neue"/>
              </a:defRPr>
            </a:defPPr>
          </a:lstStyle>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Recros</a:t>
            </a:r>
          </a:p>
        </p:txBody>
      </p:sp>
      <p:sp>
        <p:nvSpPr>
          <p:cNvPr id="2" name="">
            <a:extLst xmlns:a="http://schemas.openxmlformats.org/drawingml/2006/main">
              <a:ext uri="{FF2B5EF4-FFF2-40B4-BE49-F238E27FC236}">
                <a16:creationId xmlns:a16="http://schemas.microsoft.com/office/drawing/2014/main" id="{8C7F9788-43E6-4CF6-9D7B-8F465C3D9FFB}"/>
              </a:ext>
            </a:extLst>
          </p:cNvPr>
          <p:cNvSpPr>
            <a:spLocks xmlns:a="http://schemas.openxmlformats.org/drawingml/2006/main" noGrp="1"/>
          </p:cNvSpPr>
          <p:nvPr/>
        </p:nvSpPr>
        <p:spPr>
          <a:xfrm xmlns:a="http://schemas.openxmlformats.org/drawingml/2006/main">
            <a:off x="704850" y="2228850"/>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FFFFF"/>
                </a:solidFill>
                <a:latin typeface="Helvetica Neue"/>
                <a:ea typeface="Helvetica Neue"/>
                <a:cs typeface="Helvetica Neue"/>
              </a:defRPr>
            </a:defPPr>
          </a:lstStyle>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Tests in movies,</a:t>
            </a:r>
          </a:p>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books and songs</a:t>
            </a:r>
          </a:p>
        </p:txBody>
      </p:sp>
      <p:sp>
        <p:nvSpPr>
          <p:cNvPr id="3" name="">
            <a:extLst xmlns:a="http://schemas.openxmlformats.org/drawingml/2006/main">
              <a:ext uri="{FF2B5EF4-FFF2-40B4-BE49-F238E27FC236}">
                <a16:creationId xmlns:a16="http://schemas.microsoft.com/office/drawing/2014/main" id="{A5CF3DF9-FE6A-418D-9041-F132544AA89A}"/>
              </a:ext>
            </a:extLst>
          </p:cNvPr>
          <p:cNvSpPr>
            <a:spLocks xmlns:a="http://schemas.openxmlformats.org/drawingml/2006/main" noGrp="1"/>
          </p:cNvSpPr>
          <p:nvPr/>
        </p:nvSpPr>
        <p:spPr>
          <a:xfrm xmlns:a="http://schemas.openxmlformats.org/drawingml/2006/main">
            <a:off x="723900" y="5467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DE9DE"/>
                </a:solidFill>
                <a:latin typeface="Helvetica Neue"/>
                <a:ea typeface="Helvetica Neue"/>
                <a:cs typeface="Helvetica Neue"/>
              </a:defRPr>
            </a:defPPr>
          </a:lstStyle>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Independent relevance outcomes and annotation effort</a:t>
            </a:r>
          </a:p>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Three-domain research follow-up</a:t>
            </a:r>
          </a:p>
        </p:txBody>
      </p:sp>
    </p:spTree>
    <p:extLst>
      <p:ext uri="{BB962C8B-B14F-4D97-AF65-F5344CB8AC3E}">
        <p14:creationId xmlns:p14="http://schemas.microsoft.com/office/powerpoint/2010/main" val="594141120"/>
      </p:ext>
    </p:extLst>
  </p:cSld>
</p:sld>
</file>

<file path=ppt/slides/slide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DA28B9-341C-4CBD-A9B0-B08A6C724841}"/>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Independent data and held-out profiles</a:t>
            </a:r>
          </a:p>
        </p:txBody>
      </p:sp>
      <p:graphicFrame>
        <p:nvGraphicFramePr>
          <p:cNvPr id="2" name="">
            <a:extLst xmlns:a="http://schemas.openxmlformats.org/drawingml/2006/main">
              <a:ext uri="{FF2B5EF4-FFF2-40B4-BE49-F238E27FC236}">
                <a16:creationId xmlns:a16="http://schemas.microsoft.com/office/drawing/2014/main" id="{96DCBC1B-6545-4771-BDD1-6A404E77E5E3}"/>
              </a:ext>
            </a:extLst>
          </p:cNvPr>
          <p:cNvGraphicFramePr/>
          <p:nvPr/>
        </p:nvGraphicFramePr>
        <p:xfrm>
          <a:off xmlns:a="http://schemas.openxmlformats.org/drawingml/2006/main" x="647700" y="1714500"/>
          <a:ext xmlns:a="http://schemas.openxmlformats.org/drawingml/2006/main" cx="10896600" cy="3190875"/>
        </p:xfrm>
        <a:graphic xmlns:a="http://schemas.openxmlformats.org/drawingml/2006/main">
          <a:graphicData uri="http://schemas.openxmlformats.org/drawingml/2006/table">
            <a:tbl>
              <a:tblPr/>
              <a:tblGrid>
                <a:gridCol w="1524000"/>
                <a:gridCol w="3371850"/>
                <a:gridCol w="2381250"/>
                <a:gridCol w="1428750"/>
                <a:gridCol w="2190750"/>
              </a:tblGrid>
              <a:tr h="797719">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Source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Test catalog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Profiles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Split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97719">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MovieLens + LTO</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789 films</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Chronological</a:t>
                      </a:r>
                    </a:p>
                  </a:txBody>
                  <a:tcPr marL="91440" marR="91440" marT="45720" marB="45720">
                    <a:lnR w="9525">
                      <a:solidFill>
                        <a:srgbClr val="CAD5CC"/>
                      </a:solidFill>
                      <a:prstDash val="solid"/>
                    </a:lnR>
                    <a:lnB w="9525">
                      <a:solidFill>
                        <a:srgbClr val="CAD5CC"/>
                      </a:solidFill>
                      <a:prstDash val="solid"/>
                    </a:lnB>
                    <a:solidFill>
                      <a:srgbClr val="FFFFFF"/>
                    </a:solidFill>
                  </a:tcPr>
                </a:tc>
              </a:tr>
              <a:tr h="797719">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Goodbooks-10k</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3,000 books</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Random</a:t>
                      </a:r>
                    </a:p>
                  </a:txBody>
                  <a:tcPr marL="91440" marR="91440" marT="45720" marB="45720">
                    <a:lnR w="9525">
                      <a:solidFill>
                        <a:srgbClr val="CAD5CC"/>
                      </a:solidFill>
                      <a:prstDash val="solid"/>
                    </a:lnR>
                    <a:lnB w="9525">
                      <a:solidFill>
                        <a:srgbClr val="CAD5CC"/>
                      </a:solidFill>
                      <a:prstDash val="solid"/>
                    </a:lnB>
                    <a:solidFill>
                      <a:srgbClr val="E9EFE9"/>
                    </a:solidFill>
                  </a:tcPr>
                </a:tc>
              </a:tr>
              <a:tr h="797719">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Last.fm + AcousticBrainz</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2,000 recordings</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181</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Chronological</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CF6C698-BD4D-4B9C-9CFC-3E82D30EDC0C}"/>
              </a:ext>
            </a:extLst>
          </p:cNvPr>
          <p:cNvSpPr>
            <a:spLocks xmlns:a="http://schemas.openxmlformats.org/drawingml/2006/main" noGrp="1"/>
          </p:cNvSpPr>
          <p:nvPr/>
        </p:nvSpPr>
        <p:spPr>
          <a:xfrm xmlns:a="http://schemas.openxmlformats.org/drawingml/2006/main">
            <a:off x="666750" y="52292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1"/>
                </a:solidFill>
                <a:latin typeface="Helvetica Neue"/>
                <a:ea typeface="Helvetica Neue"/>
                <a:cs typeface="Helvetica Neue"/>
              </a:defRPr>
            </a:defPPr>
          </a:lstStyle>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Book ratings and song plays are different outcomes.</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Song identities join by exact recording MusicBrainz IDs.</a:t>
            </a:r>
          </a:p>
        </p:txBody>
      </p:sp>
      <p:sp>
        <p:nvSpPr>
          <p:cNvPr id="4" name="">
            <a:extLst xmlns:a="http://schemas.openxmlformats.org/drawingml/2006/main">
              <a:ext uri="{FF2B5EF4-FFF2-40B4-BE49-F238E27FC236}">
                <a16:creationId xmlns:a16="http://schemas.microsoft.com/office/drawing/2014/main" id="{7C1A3DB2-5CD1-4726-9C97-6C719B655314}"/>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The book/song catalogs are popular-item subsets chosen from disjoint background data. Scores do not represent standard full-dataset leaderboards.</a:t>
            </a:r>
          </a:p>
        </p:txBody>
      </p:sp>
    </p:spTree>
    <p:extLst>
      <p:ext uri="{BB962C8B-B14F-4D97-AF65-F5344CB8AC3E}">
        <p14:creationId xmlns:p14="http://schemas.microsoft.com/office/powerpoint/2010/main" val="55770842"/>
      </p:ext>
    </p:extLst>
  </p:cSld>
</p:sld>
</file>

<file path=ppt/slides/slide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94332C-6C05-4ADD-803F-1FD515EB67EA}"/>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Ranking gains remain unestablished</a:t>
            </a:r>
          </a:p>
        </p:txBody>
      </p:sp>
      <p:graphicFrame>
        <p:nvGraphicFramePr>
          <p:cNvPr id="2" name="">
            <a:extLst xmlns:a="http://schemas.openxmlformats.org/drawingml/2006/main">
              <a:ext uri="{FF2B5EF4-FFF2-40B4-BE49-F238E27FC236}">
                <a16:creationId xmlns:a16="http://schemas.microsoft.com/office/drawing/2014/main" id="{881FE5C8-58F0-4256-90ED-FFA7A3EBC40D}"/>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1752600"/>
                <a:gridCol w="2286000"/>
                <a:gridCol w="2286000"/>
                <a:gridCol w="2286000"/>
                <a:gridCol w="2286000"/>
              </a:tblGrid>
              <a:tr h="738188">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Reference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EASE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Flat regret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Hierarchy</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0.2385</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0.2320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0.2311</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0.2322</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0.6190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0.6368</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0.5999</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0.5994</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0.1649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0.1813</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0.1586</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0.1589</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7736EF2-A036-4B93-A542-75CD7CE44563}"/>
              </a:ext>
            </a:extLst>
          </p:cNvPr>
          <p:cNvSpPr>
            <a:spLocks xmlns:a="http://schemas.openxmlformats.org/drawingml/2006/main" noGrp="1"/>
          </p:cNvSpPr>
          <p:nvPr/>
        </p:nvSpPr>
        <p:spPr>
          <a:xfrm xmlns:a="http://schemas.openxmlformats.org/drawingml/2006/main">
            <a:off x="666750" y="51435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1"/>
                </a:solidFill>
                <a:latin typeface="Helvetica Neue"/>
                <a:ea typeface="Helvetica Neue"/>
                <a:cs typeface="Helvetica Neue"/>
              </a:defRPr>
            </a:defPPr>
          </a:lstStyle>
          <a:p xmlns:a="http://schemas.openxmlformats.org/drawingml/2006/main">
            <a:pPr>
              <a:defRPr sz="2400" b="0">
                <a:solidFill>
                  <a:srgbClr val="173C31"/>
                </a:solidFill>
                <a:latin typeface="Helvetica Neue"/>
                <a:ea typeface="Helvetica Neue"/>
                <a:cs typeface="Helvetica Neue"/>
              </a:defRPr>
            </a:pPr>
            <a:r>
              <a:rPr sz="2400" b="0">
                <a:solidFill>
                  <a:srgbClr val="173C31"/>
                </a:solidFill>
                <a:latin typeface="Helvetica Neue"/>
                <a:ea typeface="Helvetica Neue"/>
                <a:cs typeface="Helvetica Neue"/>
              </a:rPr>
              <a:t>Every hierarchy − flat confidence interval includes zero.</a:t>
            </a:r>
          </a:p>
        </p:txBody>
      </p:sp>
      <p:sp>
        <p:nvSpPr>
          <p:cNvPr id="4" name="">
            <a:extLst xmlns:a="http://schemas.openxmlformats.org/drawingml/2006/main">
              <a:ext uri="{FF2B5EF4-FFF2-40B4-BE49-F238E27FC236}">
                <a16:creationId xmlns:a16="http://schemas.microsoft.com/office/drawing/2014/main" id="{CB7FAA77-AEB5-4A5B-B133-244B204850CD}"/>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NDCG@5 at 50% missing labels and fixed nonzero theme weight. Each row shares candidates. Comparisons between datasets have different splits and outcomes.</a:t>
            </a:r>
          </a:p>
        </p:txBody>
      </p:sp>
    </p:spTree>
    <p:extLst>
      <p:ext uri="{BB962C8B-B14F-4D97-AF65-F5344CB8AC3E}">
        <p14:creationId xmlns:p14="http://schemas.microsoft.com/office/powerpoint/2010/main" val="273689184"/>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5D9E95-B98F-410C-A252-50D093143FA9}"/>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Small annotation savings in each domain</a:t>
            </a:r>
          </a:p>
        </p:txBody>
      </p:sp>
      <p:graphicFrame>
        <p:nvGraphicFramePr>
          <p:cNvPr id="2" name="">
            <a:extLst xmlns:a="http://schemas.openxmlformats.org/drawingml/2006/main">
              <a:ext uri="{FF2B5EF4-FFF2-40B4-BE49-F238E27FC236}">
                <a16:creationId xmlns:a16="http://schemas.microsoft.com/office/drawing/2014/main" id="{35A572F5-854A-492D-A21C-BECA4DC7FBC2}"/>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2324100"/>
                <a:gridCol w="2857500"/>
                <a:gridCol w="2857500"/>
                <a:gridCol w="2857500"/>
              </a:tblGrid>
              <a:tr h="738188">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Flat lookups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Hierarchy</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Reduction</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6.86</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6.42</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6.5%</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15.32</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14.95</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2.4%</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12.25</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12.09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1.3%</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5010A68-C166-4692-8687-5F3E1C4DC7D8}"/>
              </a:ext>
            </a:extLst>
          </p:cNvPr>
          <p:cNvSpPr>
            <a:spLocks xmlns:a="http://schemas.openxmlformats.org/drawingml/2006/main" noGrp="1"/>
          </p:cNvSpPr>
          <p:nvPr/>
        </p:nvSpPr>
        <p:spPr>
          <a:xfrm xmlns:a="http://schemas.openxmlformats.org/drawingml/2006/main">
            <a:off x="666750" y="51435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1"/>
                </a:solidFill>
                <a:latin typeface="Helvetica Neue"/>
                <a:ea typeface="Helvetica Neue"/>
                <a:cs typeface="Helvetica Neue"/>
              </a:defRPr>
            </a:defPPr>
          </a:lstStyle>
          <a:p xmlns:a="http://schemas.openxmlformats.org/drawingml/2006/main">
            <a:pPr>
              <a:defRPr sz="2400" b="0">
                <a:solidFill>
                  <a:srgbClr val="173C31"/>
                </a:solidFill>
                <a:latin typeface="Helvetica Neue"/>
                <a:ea typeface="Helvetica Neue"/>
                <a:cs typeface="Helvetica Neue"/>
              </a:defRPr>
            </a:pPr>
            <a:r>
              <a:rPr sz="2400" b="0">
                <a:solidFill>
                  <a:srgbClr val="173C31"/>
                </a:solidFill>
                <a:latin typeface="Helvetica Neue"/>
                <a:ea typeface="Helvetica Neue"/>
                <a:cs typeface="Helvetica Neue"/>
              </a:rPr>
              <a:t>The five recommendations remain exactly identical.</a:t>
            </a:r>
          </a:p>
        </p:txBody>
      </p:sp>
      <p:sp>
        <p:nvSpPr>
          <p:cNvPr id="4" name="">
            <a:extLst xmlns:a="http://schemas.openxmlformats.org/drawingml/2006/main">
              <a:ext uri="{FF2B5EF4-FFF2-40B4-BE49-F238E27FC236}">
                <a16:creationId xmlns:a16="http://schemas.microsoft.com/office/drawing/2014/main" id="{35B6220A-6361-4904-A04E-3D82B447FF23}"/>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50% mask and 24-lookup cap. Certificates concern the first pick and the declared model. Lookup counts include unsuccessful runs and do not measure real API calls.</a:t>
            </a:r>
          </a:p>
        </p:txBody>
      </p:sp>
    </p:spTree>
    <p:extLst>
      <p:ext uri="{BB962C8B-B14F-4D97-AF65-F5344CB8AC3E}">
        <p14:creationId xmlns:p14="http://schemas.microsoft.com/office/powerpoint/2010/main" val="564821861"/>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C905671-9991-4C4B-AB87-6F5ACF1F1D87}"/>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Only a minority of profiles save lookups</a:t>
            </a:r>
          </a:p>
        </p:txBody>
      </p:sp>
      <p:graphicFrame>
        <p:nvGraphicFramePr>
          <p:cNvPr id="2" name="Chart">
            <a:extLst xmlns:a="http://schemas.openxmlformats.org/drawingml/2006/main">
              <a:ext uri="{FF2B5EF4-FFF2-40B4-BE49-F238E27FC236}">
                <a16:creationId xmlns:a16="http://schemas.microsoft.com/office/drawing/2014/main" id="{98734696-525E-4035-9F0F-2AFAABACCCB5}"/>
              </a:ext>
            </a:extLst>
          </p:cNvPr>
          <p:cNvGraphicFramePr/>
          <p:nvPr/>
        </p:nvGraphicFramePr>
        <p:xfrm>
          <a:off xmlns:a="http://schemas.openxmlformats.org/drawingml/2006/main" x="857250" y="171450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7f98522292354c9f"/>
          </a:graphicData>
        </a:graphic>
      </p:graphicFrame>
      <p:sp>
        <p:nvSpPr>
          <p:cNvPr id="3" name="">
            <a:extLst xmlns:a="http://schemas.openxmlformats.org/drawingml/2006/main">
              <a:ext uri="{FF2B5EF4-FFF2-40B4-BE49-F238E27FC236}">
                <a16:creationId xmlns:a16="http://schemas.microsoft.com/office/drawing/2014/main" id="{9FA30E72-8DFF-4A61-B34C-33D0D20C7FCE}"/>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Profiles with any lookup saving at 50% masking: 19/320 movies, 13/320 books and 5/181 songs. The gain is small and concentrated.</a:t>
            </a:r>
          </a:p>
        </p:txBody>
      </p:sp>
    </p:spTree>
    <p:extLst>
      <p:ext uri="{BB962C8B-B14F-4D97-AF65-F5344CB8AC3E}">
        <p14:creationId xmlns:p14="http://schemas.microsoft.com/office/powerpoint/2010/main" val="949454610"/>
      </p:ext>
    </p:extLst>
  </p:cSld>
</p:sld>
</file>

<file path=ppt/slides/slide6.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94651F-70DC-410B-BD57-642E260588A1}"/>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Severe missingness often prevents a certificate</a:t>
            </a:r>
          </a:p>
        </p:txBody>
      </p:sp>
      <p:graphicFrame>
        <p:nvGraphicFramePr>
          <p:cNvPr id="2" name="">
            <a:extLst xmlns:a="http://schemas.openxmlformats.org/drawingml/2006/main">
              <a:ext uri="{FF2B5EF4-FFF2-40B4-BE49-F238E27FC236}">
                <a16:creationId xmlns:a16="http://schemas.microsoft.com/office/drawing/2014/main" id="{B98E033C-B71E-4694-AD32-156FC24F0961}"/>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2800350"/>
                <a:gridCol w="2857500"/>
                <a:gridCol w="3333750"/>
                <a:gridCol w="1905000"/>
              </a:tblGrid>
              <a:tr h="738188">
                <a:tc>
                  <a:txBody>
                    <a:bodyPr/>
                    <a:lstStyle/>
                    <a:p>
                      <a:r>
                        <a:rPr sz="1875" b="1">
                          <a:solidFill>
                            <a:srgbClr val="FFFFFF"/>
                          </a:solidFill>
                          <a:latin typeface="Helvetica Neue"/>
                          <a:ea typeface="Helvetica Neue"/>
                          <a:cs typeface="Helvetica Neue"/>
                        </a:rPr>
                        <a:t>75% missing</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Flat certified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Hierarchy certified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Profiles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119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129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39</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42</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59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181</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E811DBE-4874-48D6-86AC-F5CBED33720A}"/>
              </a:ext>
            </a:extLst>
          </p:cNvPr>
          <p:cNvSpPr>
            <a:spLocks xmlns:a="http://schemas.openxmlformats.org/drawingml/2006/main" noGrp="1"/>
          </p:cNvSpPr>
          <p:nvPr/>
        </p:nvSpPr>
        <p:spPr>
          <a:xfrm xmlns:a="http://schemas.openxmlformats.org/drawingml/2006/main">
            <a:off x="666750" y="50958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1"/>
                </a:solidFill>
                <a:latin typeface="Helvetica Neue"/>
                <a:ea typeface="Helvetica Neue"/>
                <a:cs typeface="Helvetica Neue"/>
              </a:defRPr>
            </a:defPPr>
          </a:lstStyle>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Book and movie reranking also loses relevance</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against the reference in this stress condition.</a:t>
            </a:r>
          </a:p>
        </p:txBody>
      </p:sp>
      <p:sp>
        <p:nvSpPr>
          <p:cNvPr id="4" name="">
            <a:extLst xmlns:a="http://schemas.openxmlformats.org/drawingml/2006/main">
              <a:ext uri="{FF2B5EF4-FFF2-40B4-BE49-F238E27FC236}">
                <a16:creationId xmlns:a16="http://schemas.microsoft.com/office/drawing/2014/main" id="{A9AD7291-B25B-4286-B7A2-8388D53DEFEF}"/>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The matching certificate assumes adequate preference intervals and correct facts. High budget-limited failure remains part of the result.</a:t>
            </a:r>
          </a:p>
        </p:txBody>
      </p:sp>
    </p:spTree>
    <p:extLst>
      <p:ext uri="{BB962C8B-B14F-4D97-AF65-F5344CB8AC3E}">
        <p14:creationId xmlns:p14="http://schemas.microsoft.com/office/powerpoint/2010/main" val="769996137"/>
      </p:ext>
    </p:extLst>
  </p:cSld>
</p:sld>
</file>

<file path=ppt/slides/slide7.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6FC99A-0425-4FF6-BDCB-A77E06C0ACFE}"/>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Validation retains the reference ranking</a:t>
            </a:r>
          </a:p>
        </p:txBody>
      </p:sp>
      <p:graphicFrame>
        <p:nvGraphicFramePr>
          <p:cNvPr id="2" name="">
            <a:extLst xmlns:a="http://schemas.openxmlformats.org/drawingml/2006/main">
              <a:ext uri="{FF2B5EF4-FFF2-40B4-BE49-F238E27FC236}">
                <a16:creationId xmlns:a16="http://schemas.microsoft.com/office/drawing/2014/main" id="{2542515A-EFA3-4578-8077-C393EE810A53}"/>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1847850"/>
                <a:gridCol w="3333750"/>
                <a:gridCol w="3333750"/>
                <a:gridCol w="2381250"/>
              </a:tblGrid>
              <a:tr h="738188">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Reference NDCG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EASE NDCG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Theme weight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0.2385</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0.2247</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0.6190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0.6455</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0.1649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0.1832</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F057941-8C1A-4BDE-8E43-266F88E756B1}"/>
              </a:ext>
            </a:extLst>
          </p:cNvPr>
          <p:cNvSpPr>
            <a:spLocks xmlns:a="http://schemas.openxmlformats.org/drawingml/2006/main" noGrp="1"/>
          </p:cNvSpPr>
          <p:nvPr/>
        </p:nvSpPr>
        <p:spPr>
          <a:xfrm xmlns:a="http://schemas.openxmlformats.org/drawingml/2006/main">
            <a:off x="666750" y="51435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1"/>
                </a:solidFill>
                <a:latin typeface="Helvetica Neue"/>
                <a:ea typeface="Helvetica Neue"/>
                <a:cs typeface="Helvetica Neue"/>
              </a:defRPr>
            </a:defPPr>
          </a:lstStyle>
          <a:p xmlns:a="http://schemas.openxmlformats.org/drawingml/2006/main">
            <a:pPr>
              <a:defRPr sz="2400" b="0">
                <a:solidFill>
                  <a:srgbClr val="173C31"/>
                </a:solidFill>
                <a:latin typeface="Helvetica Neue"/>
                <a:ea typeface="Helvetica Neue"/>
                <a:cs typeface="Helvetica Neue"/>
              </a:defRPr>
            </a:pPr>
            <a:r>
              <a:rPr sz="2400" b="0">
                <a:solidFill>
                  <a:srgbClr val="173C31"/>
                </a:solidFill>
                <a:latin typeface="Helvetica Neue"/>
                <a:ea typeface="Helvetica Neue"/>
                <a:cs typeface="Helvetica Neue"/>
              </a:rPr>
              <a:t>Genre constraints do not replace preference learning.</a:t>
            </a:r>
          </a:p>
        </p:txBody>
      </p:sp>
      <p:sp>
        <p:nvSpPr>
          <p:cNvPr id="4" name="">
            <a:extLst xmlns:a="http://schemas.openxmlformats.org/drawingml/2006/main">
              <a:ext uri="{FF2B5EF4-FFF2-40B4-BE49-F238E27FC236}">
                <a16:creationId xmlns:a16="http://schemas.microsoft.com/office/drawing/2014/main" id="{4EBA71B3-87A6-47E7-ADFF-53D6A1FEB18E}"/>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Full-catalog baseline audit. Zero weight is a validation-selected fallback in the paired model family. It is not evidence of hierarchy accuracy improvement.</a:t>
            </a:r>
          </a:p>
        </p:txBody>
      </p:sp>
    </p:spTree>
    <p:extLst>
      <p:ext uri="{BB962C8B-B14F-4D97-AF65-F5344CB8AC3E}">
        <p14:creationId xmlns:p14="http://schemas.microsoft.com/office/powerpoint/2010/main" val="953411418"/>
      </p:ext>
    </p:extLst>
  </p:cSld>
</p:sld>
</file>

<file path=ppt/slides/slide8.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4CCA074-9F88-47AB-9D66-AC80A28FE528}"/>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What the three-domain extension establishes</a:t>
            </a:r>
          </a:p>
        </p:txBody>
      </p:sp>
      <p:graphicFrame>
        <p:nvGraphicFramePr>
          <p:cNvPr id="2" name="">
            <a:extLst xmlns:a="http://schemas.openxmlformats.org/drawingml/2006/main">
              <a:ext uri="{FF2B5EF4-FFF2-40B4-BE49-F238E27FC236}">
                <a16:creationId xmlns:a16="http://schemas.microsoft.com/office/drawing/2014/main" id="{C59BBD34-BC28-438F-8B97-E8922B89811C}"/>
              </a:ext>
            </a:extLst>
          </p:cNvPr>
          <p:cNvGraphicFramePr/>
          <p:nvPr/>
        </p:nvGraphicFramePr>
        <p:xfrm>
          <a:off xmlns:a="http://schemas.openxmlformats.org/drawingml/2006/main" x="647700" y="1714500"/>
          <a:ext xmlns:a="http://schemas.openxmlformats.org/drawingml/2006/main" cx="10896600" cy="3333750"/>
        </p:xfrm>
        <a:graphic xmlns:a="http://schemas.openxmlformats.org/drawingml/2006/main">
          <a:graphicData uri="http://schemas.openxmlformats.org/drawingml/2006/table">
            <a:tbl>
              <a:tblPr/>
              <a:tblGrid>
                <a:gridCol w="5429250"/>
                <a:gridCol w="5467350"/>
              </a:tblGrid>
              <a:tr h="666750">
                <a:tc>
                  <a:txBody>
                    <a:bodyPr/>
                    <a:lstStyle/>
                    <a:p>
                      <a:r>
                        <a:rPr sz="1875" b="1">
                          <a:solidFill>
                            <a:srgbClr val="FFFFFF"/>
                          </a:solidFill>
                          <a:latin typeface="Helvetica Neue"/>
                          <a:ea typeface="Helvetica Neue"/>
                          <a:cs typeface="Helvetica Neue"/>
                        </a:rPr>
                        <a:t>Established in these tests</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Still unestablished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66750">
                <a:tc>
                  <a:txBody>
                    <a:bodyPr/>
                    <a:lstStyle/>
                    <a:p>
                      <a:r>
                        <a:rPr sz="1875" b="0">
                          <a:solidFill>
                            <a:srgbClr val="173C31"/>
                          </a:solidFill>
                          <a:latin typeface="Helvetica Neue"/>
                          <a:ea typeface="Helvetica Neue"/>
                          <a:cs typeface="Helvetica Neue"/>
                        </a:rPr>
                        <a:t>Exact conditional uncertainty</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Worldwide priority of the formulation</a:t>
                      </a:r>
                    </a:p>
                  </a:txBody>
                  <a:tcPr marL="91440" marR="91440" marT="45720" marB="45720">
                    <a:lnR w="9525">
                      <a:solidFill>
                        <a:srgbClr val="CAD5CC"/>
                      </a:solidFill>
                      <a:prstDash val="solid"/>
                    </a:lnR>
                    <a:lnB w="9525">
                      <a:solidFill>
                        <a:srgbClr val="CAD5CC"/>
                      </a:solidFill>
                      <a:prstDash val="solid"/>
                    </a:lnB>
                    <a:solidFill>
                      <a:srgbClr val="FFFFFF"/>
                    </a:solidFill>
                  </a:tcPr>
                </a:tc>
              </a:tr>
              <a:tr h="666750">
                <a:tc>
                  <a:txBody>
                    <a:bodyPr/>
                    <a:lstStyle/>
                    <a:p>
                      <a:r>
                        <a:rPr sz="1875" b="0">
                          <a:solidFill>
                            <a:srgbClr val="173C31"/>
                          </a:solidFill>
                          <a:latin typeface="Helvetica Neue"/>
                          <a:ea typeface="Helvetica Neue"/>
                          <a:cs typeface="Helvetica Neue"/>
                        </a:rPr>
                        <a:t>Small annotation-bit savings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Actual API or human-question savings</a:t>
                      </a:r>
                    </a:p>
                  </a:txBody>
                  <a:tcPr marL="91440" marR="91440" marT="45720" marB="45720">
                    <a:lnR w="9525">
                      <a:solidFill>
                        <a:srgbClr val="CAD5CC"/>
                      </a:solidFill>
                      <a:prstDash val="solid"/>
                    </a:lnR>
                    <a:lnB w="9525">
                      <a:solidFill>
                        <a:srgbClr val="CAD5CC"/>
                      </a:solidFill>
                      <a:prstDash val="solid"/>
                    </a:lnB>
                    <a:solidFill>
                      <a:srgbClr val="E9EFE9"/>
                    </a:solidFill>
                  </a:tcPr>
                </a:tc>
              </a:tr>
              <a:tr h="666750">
                <a:tc>
                  <a:txBody>
                    <a:bodyPr/>
                    <a:lstStyle/>
                    <a:p>
                      <a:r>
                        <a:rPr sz="1875" b="0">
                          <a:solidFill>
                            <a:srgbClr val="173C31"/>
                          </a:solidFill>
                          <a:latin typeface="Helvetica Neue"/>
                          <a:ea typeface="Helvetica Neue"/>
                          <a:cs typeface="Helvetica Neue"/>
                        </a:rPr>
                        <a:t>Real within-domain evaluation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Shared-user cross-domain transfer</a:t>
                      </a:r>
                    </a:p>
                  </a:txBody>
                  <a:tcPr marL="91440" marR="91440" marT="45720" marB="45720">
                    <a:lnR w="9525">
                      <a:solidFill>
                        <a:srgbClr val="CAD5CC"/>
                      </a:solidFill>
                      <a:prstDash val="solid"/>
                    </a:lnR>
                    <a:lnB w="9525">
                      <a:solidFill>
                        <a:srgbClr val="CAD5CC"/>
                      </a:solidFill>
                      <a:prstDash val="solid"/>
                    </a:lnB>
                    <a:solidFill>
                      <a:srgbClr val="FFFFFF"/>
                    </a:solidFill>
                  </a:tcPr>
                </a:tc>
              </a:tr>
              <a:tr h="666750">
                <a:tc>
                  <a:txBody>
                    <a:bodyPr/>
                    <a:lstStyle/>
                    <a:p>
                      <a:r>
                        <a:rPr sz="1875" b="0">
                          <a:solidFill>
                            <a:srgbClr val="173C31"/>
                          </a:solidFill>
                          <a:latin typeface="Helvetica Neue"/>
                          <a:ea typeface="Helvetica Neue"/>
                          <a:cs typeface="Helvetica Neue"/>
                        </a:rPr>
                        <a:t>Documented relevance failures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A stronger LLM/SLM recommendation model</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FB817A51-E638-4AE7-B2BE-F7895AC2DE8C}"/>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Protocols, per-profile predictions, query traces and the report are saved. Genre hierarchies and graph-cut machinery have attributed prior art.</a:t>
            </a:r>
          </a:p>
        </p:txBody>
      </p:sp>
    </p:spTree>
    <p:extLst>
      <p:ext uri="{BB962C8B-B14F-4D97-AF65-F5344CB8AC3E}">
        <p14:creationId xmlns:p14="http://schemas.microsoft.com/office/powerpoint/2010/main" val="12132894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2026-10-14T15:20:29.9250000Z</dcterms:created>
  <dcterms:modified xsi:type="dcterms:W3CDTF">2026-10-14T15:20:29.9250000Z</dcterms:modified>
</coreProperties>
</file>