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0505a25584a400a" /><Relationship Type="http://schemas.openxmlformats.org/officeDocument/2006/relationships/extended-properties" Target="/docProps/app.xml" Id="R8920fdb847c04a55" /><Relationship Type="http://schemas.openxmlformats.org/officeDocument/2006/relationships/officeDocument" Target="/ppt/presentation.xml" Id="R5c923e0ef57349c9" /></Relationships>
</file>

<file path=ppt/presentation.xml><?xml version="1.0" encoding="utf-8"?>
<p:presentation xmlns:p="http://schemas.openxmlformats.org/presentationml/2006/main">
  <p:sldMasterIdLst>
    <p:sldMasterId xmlns:r="http://schemas.openxmlformats.org/officeDocument/2006/relationships" id="2147483648" r:id="R39b3bdba40724c8b"/>
  </p:sldMasterIdLst>
  <p:notesMasterIdLst>
    <p:notesMasterId xmlns:r="http://schemas.openxmlformats.org/officeDocument/2006/relationships" r:id="R5301b376c9b44fa1"/>
  </p:notesMasterIdLst>
  <p:sldIdLst>
    <p:sldId xmlns:r="http://schemas.openxmlformats.org/officeDocument/2006/relationships" id="256" r:id="R524240cc8a574fea"/>
    <p:sldId xmlns:r="http://schemas.openxmlformats.org/officeDocument/2006/relationships" id="257" r:id="R66d1d8ae6cfa479f"/>
    <p:sldId xmlns:r="http://schemas.openxmlformats.org/officeDocument/2006/relationships" id="258" r:id="Rc6fe5afa8a444a6d"/>
    <p:sldId xmlns:r="http://schemas.openxmlformats.org/officeDocument/2006/relationships" id="259" r:id="R1667d7faea2e49d0"/>
    <p:sldId xmlns:r="http://schemas.openxmlformats.org/officeDocument/2006/relationships" id="260" r:id="R3a28300838a74c79"/>
    <p:sldId xmlns:r="http://schemas.openxmlformats.org/officeDocument/2006/relationships" id="261" r:id="R495c31c6d7e54caf"/>
    <p:sldId xmlns:r="http://schemas.openxmlformats.org/officeDocument/2006/relationships" id="262" r:id="Raf8d6dfba22d4236"/>
    <p:sldId xmlns:r="http://schemas.openxmlformats.org/officeDocument/2006/relationships" id="263" r:id="R2a81ce8bf51547fb"/>
    <p:sldId xmlns:r="http://schemas.openxmlformats.org/officeDocument/2006/relationships" id="264" r:id="Raef9ae0535934ec1"/>
    <p:sldId xmlns:r="http://schemas.openxmlformats.org/officeDocument/2006/relationships" id="265" r:id="R210fa56a42ab4662"/>
    <p:sldId xmlns:r="http://schemas.openxmlformats.org/officeDocument/2006/relationships" id="266" r:id="R83210e3e68b94a20"/>
    <p:sldId xmlns:r="http://schemas.openxmlformats.org/officeDocument/2006/relationships" id="267" r:id="R8ec84dd7ca154d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862d2084c04e3c" /><Relationship Type="http://schemas.openxmlformats.org/officeDocument/2006/relationships/slideMaster" Target="/ppt/slideMasters/slideMaster1.xml" Id="R39b3bdba40724c8b" /><Relationship Type="http://schemas.openxmlformats.org/officeDocument/2006/relationships/notesMaster" Target="/ppt/notesMasters/notesMaster1.xml" Id="R5301b376c9b44fa1" /><Relationship Type="http://schemas.openxmlformats.org/officeDocument/2006/relationships/presProps" Target="/ppt/presProps.xml" Id="Rd9b390680c104144" /><Relationship Type="http://schemas.openxmlformats.org/officeDocument/2006/relationships/tableStyles" Target="/ppt/tableStyles.xml" Id="Rc79cea6aa9fc4eb4" /><Relationship Type="http://schemas.openxmlformats.org/officeDocument/2006/relationships/slide" Target="/ppt/slides/slide1.xml" Id="R524240cc8a574fea" /><Relationship Type="http://schemas.openxmlformats.org/officeDocument/2006/relationships/slide" Target="/ppt/slides/slide2.xml" Id="R66d1d8ae6cfa479f" /><Relationship Type="http://schemas.openxmlformats.org/officeDocument/2006/relationships/slide" Target="/ppt/slides/slide3.xml" Id="Rc6fe5afa8a444a6d" /><Relationship Type="http://schemas.openxmlformats.org/officeDocument/2006/relationships/slide" Target="/ppt/slides/slide4.xml" Id="R1667d7faea2e49d0" /><Relationship Type="http://schemas.openxmlformats.org/officeDocument/2006/relationships/slide" Target="/ppt/slides/slide5.xml" Id="R3a28300838a74c79" /><Relationship Type="http://schemas.openxmlformats.org/officeDocument/2006/relationships/slide" Target="/ppt/slides/slide6.xml" Id="R495c31c6d7e54caf" /><Relationship Type="http://schemas.openxmlformats.org/officeDocument/2006/relationships/slide" Target="/ppt/slides/slide7.xml" Id="Raf8d6dfba22d4236" /><Relationship Type="http://schemas.openxmlformats.org/officeDocument/2006/relationships/slide" Target="/ppt/slides/slide8.xml" Id="R2a81ce8bf51547fb" /><Relationship Type="http://schemas.openxmlformats.org/officeDocument/2006/relationships/slide" Target="/ppt/slides/slide9.xml" Id="Raef9ae0535934ec1" /><Relationship Type="http://schemas.openxmlformats.org/officeDocument/2006/relationships/slide" Target="/ppt/slides/slide10.xml" Id="R210fa56a42ab4662" /><Relationship Type="http://schemas.openxmlformats.org/officeDocument/2006/relationships/slide" Target="/ppt/slides/slide11.xml" Id="R83210e3e68b94a20" /><Relationship Type="http://schemas.openxmlformats.org/officeDocument/2006/relationships/slide" Target="/ppt/slides/slide12.xml" Id="R8ec84dd7ca154d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14bd85dab249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23e4acac434c13" /><Relationship Type="http://schemas.openxmlformats.org/officeDocument/2006/relationships/notesMaster" Target="/ppt/notesMasters/notesMaster1.xml" Id="R47969c8de08a4f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de778498ea4c8d" /><Relationship Type="http://schemas.openxmlformats.org/officeDocument/2006/relationships/notesMaster" Target="/ppt/notesMasters/notesMaster1.xml" Id="Ree7f119d53c546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bf5e7ba29a45be" /><Relationship Type="http://schemas.openxmlformats.org/officeDocument/2006/relationships/notesMaster" Target="/ppt/notesMasters/notesMaster1.xml" Id="Rfcb0ce1cb56a46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ed1637029943c8" /><Relationship Type="http://schemas.openxmlformats.org/officeDocument/2006/relationships/notesMaster" Target="/ppt/notesMasters/notesMaster1.xml" Id="R4278b114087744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527ed664194b28" /><Relationship Type="http://schemas.openxmlformats.org/officeDocument/2006/relationships/notesMaster" Target="/ppt/notesMasters/notesMaster1.xml" Id="Rc7a2dfb4541842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49bd44a7254795" /><Relationship Type="http://schemas.openxmlformats.org/officeDocument/2006/relationships/notesMaster" Target="/ppt/notesMasters/notesMaster1.xml" Id="R5b30ac3299ae4c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0b2f6ddb744caf" /><Relationship Type="http://schemas.openxmlformats.org/officeDocument/2006/relationships/notesMaster" Target="/ppt/notesMasters/notesMaster1.xml" Id="Rc935fd9f8a8c46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9dd453ce594f7a" /><Relationship Type="http://schemas.openxmlformats.org/officeDocument/2006/relationships/notesMaster" Target="/ppt/notesMasters/notesMaster1.xml" Id="R242863a1dae848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00e055191144e2" /><Relationship Type="http://schemas.openxmlformats.org/officeDocument/2006/relationships/notesMaster" Target="/ppt/notesMasters/notesMaster1.xml" Id="R42ac37c1017d4e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a6c1a2053d4a6d" /><Relationship Type="http://schemas.openxmlformats.org/officeDocument/2006/relationships/notesMaster" Target="/ppt/notesMasters/notesMaster1.xml" Id="Rd0688d0873d14d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eaa276f6e7471d" /><Relationship Type="http://schemas.openxmlformats.org/officeDocument/2006/relationships/notesMaster" Target="/ppt/notesMasters/notesMaster1.xml" Id="R0813f781e1c749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6c5eea5f324c83" /><Relationship Type="http://schemas.openxmlformats.org/officeDocument/2006/relationships/notesMaster" Target="/ppt/notesMasters/notesMaster1.xml" Id="Rf59906835fb54d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study which information supports a transfer, and when the system should ask, inspect, recommend or abstain. This presentation reports a working prototype and bounded development experiments. Algorithmic novelty and real preference improvement remain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docs/milestone2/DATA_AUDIT.json, INGEST_CHECK.json, transfer/SCALE_AUDIT.json. The sources contain 20,000,263 movie ratings, 45,466 raw movie rows, 6,810 books and 170,653 song records. The normalized catalog has 222,896 items. Only movie ratings supply user interactions. Do not join unrelated user IDs across sources. All data are local; raw data remain ignored by Git.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private local development case and contrast_audit.py. One participant supplied ten categorical preferences and later explanations. This anonymized example represents the observed film collision. Genre metadata separates the observed film pair. The counting identity applies only to classifiers restricted to the feature vector, not to every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transfer_engine.py, transfer_routes.py, student_runtime.py, decision.py. DeepSeek interprets public summaries offline. The local tiny causal LM generates feature proposals. Its evidence gate depends on cached teacher passages. The decision component treats missing criteria as unknown, enumerates interval corners and computes conditional minimax regret. It does not guarantee subjective enjoyment or semantic entailment.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at http://127.0.0.1:8008/explore. Public demo source 2001: A Space Odyssey; request a book with inquiry and unease. On the scaled bank, the current shortlist selects Vanishing Acts with excerpts “to find missing people” and “a series of unsettling flashbacks.” Removing its unease evidence changes the choice to Annihilation. The original 18-item demonstration selected Annihilation, then switched to The Haunting of Hill House. These are different candidate pools. Source: local cached dataset summary and verified publisher paraphrase.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transfer/protocol.json, source_labels.json, model_output.json and results.json. The Codex assistant authored the reference labels before the DeepSeek call. The sample is 18 project-selected original paraphrases, six per domain, with 72 feature decisions. Four teacher omissions and no extra positives against that reference. Retrieval macro NDCG@3 uses 11 request types with positive reference labels; the remaining music/inquiry request has none. These scores are not independent human ground truth or preference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transfer/student/results.json, transfer/student/v2/results.json, v2/protocol.json. The architecture has 562,464 trainable parameters, two causal transformer layers of width 96 and four attention heads. It uses summary next-token pretraining on 4,000 local summaries and constrained yes/no feature generation. v2 uses 135 teacher-labelled training records, 33 validation records, work-title separation and positive quotation fragments. Evaluation works are excluded from training, but the 18 evaluation passages were already used in development and v1 influenced v2 design. No pretrained weights were downloaded. v2 trained and evaluated in approximately 115 seconds on CPU. Do not claim fairness of pretraining resources or general-purpose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transfer/HUMAN_READING_PILOT.md and ignored local saved review. One participant reviewed six supplied paragraphs with titles and model answers hidden. Five were judged and one was marked unsure. Twenty binary feature decisions contain seven positive labels. Model predictions and selection were frozen before review; no training used these judgments. DeepSeek: TP=6, FP=0, FN=1. Tiny v2: TP=0, FP=2, FN=7. Tiny plus cached teacher gate: TP=0, FP=0, FN=7. The gate retained no positive claims, so its precision is undefined. This is supplied-text interpretation by one person, not enjoyment or a population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results/policy/protocol.json, RESULTS.md and model_calls. Twenty-four scripted tasks, six directed domain pairs, four information conditions, twelve reused real works. All methods receive the same structured states and action opportunities. Exact, information gain and actual DeepSeek calls tie. One-step decision value recommends in eighteen episodes. Utilities and costs are hypothetical, and no human participant supplied these task preferences.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docs/milestone2/results/results.json and RESULTS.md. Separate MovieLens 100K chronological 60/20/20 experiment with 93 eligible test users, frozen historical profiles and full available candidate catalog. Discovery reranking increased tail share and reduced NDCG, recall and coverage. Popularity NDCG=0.1556. The paired NDCG interval includes zero; neither gain nor equivalence is established. Historical May-report scores use a different bootstrap task with leakage and weak-label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routes: /explore, /decision, /familiar and the private audit. Model checkpoints are saved under ml/artifacts/tiny_student. Raw data, personal records and licensed scaled caches stay local. The completed six-paragraph review hid model outputs and asked about supplied text only. Its result is one participant, not a population estimate. Next research: independent consumption/usefulness judgments with the same candidates and question budget, richer semantic training and explicit risk/coverage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 art: EviSnap, arXiv:2604.06172; Online Feature Elicitation in Interactive Optimization, ICML 2009; Robust Active Preference Elicitation, arXiv:2003.01899; PEBOL, arXiv:2405.00981; CAPE, https://proceedings.mlr.press/v306/bose26a.html. Dataset sources: https://www.kaggle.com/datasets/rounakbanik/the-movies-dataset, https://www.kaggle.com/datasets/grouplens/movielens-20m-dataset, https://www.kaggle.com/datasets/vatsalmavani/spotify-dataset, https://www.kaggle.com/datasets/dylanjcastillo/7k-books-with-metadata. MovieLens citation: Harper and Konstan, 2015, DOI 10.1145/2827872. All individual source links are in demo/transfer/sources.json.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33dd8321d444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cd3c6d97e942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6c6d5c0fb64c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bab0dbdcee48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30c736c5509458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65c853c54742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BDBB15-0E18-4F0C-AB09-F3A24F05FD7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B5A305-6801-44D7-B678-9AA9331D65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AF973C-62DB-4FD3-8AC8-DBA5866D67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ABF4DB-5266-4FDB-8008-F093210A7D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3F376-26F6-4154-A683-FD40AA7189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F85B3C-F998-4E5C-BDEC-B3A58D7453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68729B-25AB-46EF-8695-90ADD00E5F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D9CF9FC-6BF0-44CE-9B09-1A7CD560A4D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5FB978-B558-4CCC-BEBF-FA0EA7FBCE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88C490-5A8B-4B9C-867B-6636DBFA7D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681f0af7f445d4" /><Relationship Type="http://schemas.openxmlformats.org/officeDocument/2006/relationships/slideLayout" Target="/ppt/slideLayouts/slideLayout1.xml" Id="R8fb8d1a7fe814064" /><Relationship Type="http://schemas.openxmlformats.org/officeDocument/2006/relationships/slideLayout" Target="/ppt/slideLayouts/slideLayout2.xml" Id="R05a56f273e4e4340" /><Relationship Type="http://schemas.openxmlformats.org/officeDocument/2006/relationships/slideLayout" Target="/ppt/slideLayouts/slideLayout3.xml" Id="R0b2bfae441f44767" /><Relationship Type="http://schemas.openxmlformats.org/officeDocument/2006/relationships/slideLayout" Target="/ppt/slideLayouts/slideLayout4.xml" Id="Re33edb4242964287" /><Relationship Type="http://schemas.openxmlformats.org/officeDocument/2006/relationships/slideLayout" Target="/ppt/slideLayouts/slideLayout5.xml" Id="Ra824d1b8721943a6" /><Relationship Type="http://schemas.openxmlformats.org/officeDocument/2006/relationships/slideLayout" Target="/ppt/slideLayouts/slideLayout6.xml" Id="R4eb5f19cbff544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b8d1a7fe814064"/>
    <p:sldLayoutId xmlns:r="http://schemas.openxmlformats.org/officeDocument/2006/relationships" id="2147483650" r:id="R05a56f273e4e4340"/>
    <p:sldLayoutId xmlns:r="http://schemas.openxmlformats.org/officeDocument/2006/relationships" id="2147483651" r:id="R0b2bfae441f44767"/>
    <p:sldLayoutId xmlns:r="http://schemas.openxmlformats.org/officeDocument/2006/relationships" id="2147483652" r:id="Re33edb4242964287"/>
    <p:sldLayoutId xmlns:r="http://schemas.openxmlformats.org/officeDocument/2006/relationships" id="2147483653" r:id="Ra824d1b8721943a6"/>
    <p:sldLayoutId xmlns:r="http://schemas.openxmlformats.org/officeDocument/2006/relationships" id="2147483654" r:id="R4eb5f19cbff544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2d40457a485413c" /><Relationship Type="http://schemas.openxmlformats.org/officeDocument/2006/relationships/notesSlide" Target="/ppt/notesSlides/notesSlide1.xml" Id="R7a81e465c46143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5acb7037c354503" /><Relationship Type="http://schemas.openxmlformats.org/officeDocument/2006/relationships/notesSlide" Target="/ppt/notesSlides/notesSlide2.xml" Id="R4bdc900bef2d4d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4e1bd1d59c4e25" /><Relationship Type="http://schemas.openxmlformats.org/officeDocument/2006/relationships/notesSlide" Target="/ppt/notesSlides/notesSlide3.xml" Id="Raf1940ddabac4e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dc7253cd0074e33" /><Relationship Type="http://schemas.openxmlformats.org/officeDocument/2006/relationships/notesSlide" Target="/ppt/notesSlides/notesSlide4.xml" Id="R6b51b7c6d01440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8e1a2df63e14498" /><Relationship Type="http://schemas.openxmlformats.org/officeDocument/2006/relationships/notesSlide" Target="/ppt/notesSlides/notesSlide5.xml" Id="Rd73394f1015b47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aa87b7b9a14784" /><Relationship Type="http://schemas.openxmlformats.org/officeDocument/2006/relationships/chart" Target="/ppt/slides/charts/chart1.xml" Id="Ra1c74d9de21a4071" /><Relationship Type="http://schemas.openxmlformats.org/officeDocument/2006/relationships/notesSlide" Target="/ppt/notesSlides/notesSlide6.xml" Id="Re0237e93636943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5f40e9c3ef644cf" /><Relationship Type="http://schemas.openxmlformats.org/officeDocument/2006/relationships/chart" Target="/ppt/slides/charts/chart2.xml" Id="R2289d6b145814533" /><Relationship Type="http://schemas.openxmlformats.org/officeDocument/2006/relationships/notesSlide" Target="/ppt/notesSlides/notesSlide7.xml" Id="R983d4267e98f43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945d787e984943" /><Relationship Type="http://schemas.openxmlformats.org/officeDocument/2006/relationships/notesSlide" Target="/ppt/notesSlides/notesSlide8.xml" Id="Rd358f29fa43f45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fe5e55d979e44a5" /><Relationship Type="http://schemas.openxmlformats.org/officeDocument/2006/relationships/notesSlide" Target="/ppt/notesSlides/notesSlide9.xml" Id="Raa004fe762654e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d224c9e167d472a" /><Relationship Type="http://schemas.openxmlformats.org/officeDocument/2006/relationships/notesSlide" Target="/ppt/notesSlides/notesSlide10.xml" Id="R891e132dc59047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7f68ba77da04522" /><Relationship Type="http://schemas.openxmlformats.org/officeDocument/2006/relationships/notesSlide" Target="/ppt/notesSlides/notesSlide11.xml" Id="R168d54aa586849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65aaee550e04cd8" /><Relationship Type="http://schemas.openxmlformats.org/officeDocument/2006/relationships/notesSlide" Target="/ppt/notesSlides/notesSlide12.xml" Id="R8caae4d291534a8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value</c:v>
          </c:tx>
          <c:spPr>
            <a:solidFill xmlns:a="http://schemas.openxmlformats.org/drawingml/2006/main">
              <a:srgbClr val="205941"/>
            </a:solidFill>
          </c:spPr>
          <c:invertIfNegative val="0"/>
          <c:cat>
            <c:strRef>
              <c:f>'Chart Data'!$A$2:$A$3</c:f>
              <c:strCache>
                <c:ptCount val="2"/>
                <c:pt idx="0">
                  <c:v>Fixed BM25 queries</c:v>
                </c:pt>
                <c:pt idx="1">
                  <c:v>DeepSeek feature matches</c:v>
                </c:pt>
              </c:strCache>
            </c:strRef>
          </c:cat>
          <c:val>
            <c:numRef>
              <c:f>'Chart Data'!$B$2:$B$3</c:f>
              <c:numCache>
                <c:formatCode>0.000</c:formatCode>
                <c:ptCount val="2"/>
                <c:pt idx="0">
                  <c:v>0.901793</c:v>
                </c:pt>
                <c:pt idx="1">
                  <c:v>0.978669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3C31"/>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CAD5CC"/>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86257"/>
                </a:solidFill>
                <a:latin typeface="Helvetica Neue"/>
                <a:ea typeface="Helvetica Neue"/>
                <a:cs typeface="Helvetica Neue"/>
              </a:defRPr>
            </a:pPr>
          </a:p>
        </c:txPr>
        <c:crossAx val="48650112"/>
        <c:crossBetween val="between"/>
        <c:majorUnit val="0.2"/>
      </c:valAx>
      <c:spPr>
        <a:solidFill xmlns:a="http://schemas.openxmlformats.org/drawingml/2006/main">
          <a:srgbClr val="F6F7F3"/>
        </a:solidFill>
      </c:spPr>
    </c:plotArea>
    <c:plotVisOnly val="1"/>
  </c:chart>
  <c:spPr>
    <a:solidFill xmlns:a="http://schemas.openxmlformats.org/drawingml/2006/main">
      <a:srgbClr val="F6F7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value</c:v>
          </c:tx>
          <c:spPr>
            <a:solidFill xmlns:a="http://schemas.openxmlformats.org/drawingml/2006/main">
              <a:srgbClr val="205941"/>
            </a:solidFill>
          </c:spPr>
          <c:invertIfNegative val="0"/>
          <c:cat>
            <c:strRef>
              <c:f>'Chart Data'!$A$2:$A$4</c:f>
              <c:strCache>
                <c:ptCount val="3"/>
                <c:pt idx="0">
                  <c:v>TF-IDF student</c:v>
                </c:pt>
                <c:pt idx="1">
                  <c:v>Tiny causal LM v2</c:v>
                </c:pt>
                <c:pt idx="2">
                  <c:v>DeepSeek teacher</c:v>
                </c:pt>
              </c:strCache>
            </c:strRef>
          </c:cat>
          <c:val>
            <c:numRef>
              <c:f>'Chart Data'!$B$2:$B$4</c:f>
              <c:numCache>
                <c:formatCode>0.000</c:formatCode>
                <c:ptCount val="3"/>
                <c:pt idx="0">
                  <c:v>0.148148</c:v>
                </c:pt>
                <c:pt idx="1">
                  <c:v>0.166667</c:v>
                </c:pt>
                <c:pt idx="2">
                  <c:v>0.913043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3C31"/>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CAD5CC"/>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86257"/>
                </a:solidFill>
                <a:latin typeface="Helvetica Neue"/>
                <a:ea typeface="Helvetica Neue"/>
                <a:cs typeface="Helvetica Neue"/>
              </a:defRPr>
            </a:pPr>
          </a:p>
        </c:txPr>
        <c:crossAx val="48650112"/>
        <c:crossBetween val="between"/>
        <c:majorUnit val="0.2"/>
      </c:valAx>
      <c:spPr>
        <a:solidFill xmlns:a="http://schemas.openxmlformats.org/drawingml/2006/main">
          <a:srgbClr val="F6F7F3"/>
        </a:solidFill>
      </c:spPr>
    </c:plotArea>
    <c:plotVisOnly val="1"/>
  </c:chart>
  <c:spPr>
    <a:solidFill xmlns:a="http://schemas.openxmlformats.org/drawingml/2006/main">
      <a:srgbClr val="F6F7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0594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ECE2D9B-3D48-41D0-BF2A-BAE08BEAD2AE}"/>
              </a:ext>
            </a:extLst>
          </p:cNvPr>
          <p:cNvSpPr>
            <a:spLocks xmlns:a="http://schemas.openxmlformats.org/drawingml/2006/main" noGrp="1"/>
          </p:cNvSpPr>
          <p:nvPr/>
        </p:nvSpPr>
        <p:spPr>
          <a:xfrm xmlns:a="http://schemas.openxmlformats.org/drawingml/2006/main">
            <a:off x="666750" y="8572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FFFFFF"/>
                </a:solidFill>
                <a:latin typeface="Helvetica Neue"/>
                <a:ea typeface="Helvetica Neue"/>
                <a:cs typeface="Helvetica Neue"/>
              </a:defRPr>
            </a:defPPr>
          </a:lstStyle>
          <a:p xmlns:a="http://schemas.openxmlformats.org/drawingml/2006/main">
            <a:pPr>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Recros</a:t>
            </a:r>
          </a:p>
        </p:txBody>
      </p:sp>
      <p:sp>
        <p:nvSpPr>
          <p:cNvPr id="2" name="">
            <a:extLst xmlns:a="http://schemas.openxmlformats.org/drawingml/2006/main">
              <a:ext uri="{FF2B5EF4-FFF2-40B4-BE49-F238E27FC236}">
                <a16:creationId xmlns:a16="http://schemas.microsoft.com/office/drawing/2014/main" id="{89C4FF04-201C-4DF5-ABB7-E418283E2352}"/>
              </a:ext>
            </a:extLst>
          </p:cNvPr>
          <p:cNvSpPr>
            <a:spLocks xmlns:a="http://schemas.openxmlformats.org/drawingml/2006/main" noGrp="1"/>
          </p:cNvSpPr>
          <p:nvPr/>
        </p:nvSpPr>
        <p:spPr>
          <a:xfrm xmlns:a="http://schemas.openxmlformats.org/drawingml/2006/main">
            <a:off x="704850" y="238125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FFFFF"/>
                </a:solidFill>
                <a:latin typeface="Helvetica Neue"/>
                <a:ea typeface="Helvetica Neue"/>
                <a:cs typeface="Helvetica Neue"/>
              </a:defRPr>
            </a:defPPr>
          </a:lstStyle>
          <a:p xmlns:a="http://schemas.openxmlformats.org/drawingml/2006/main">
            <a:pPr>
              <a:defRPr sz="3600" b="0">
                <a:solidFill>
                  <a:srgbClr val="FFFFFF"/>
                </a:solidFill>
                <a:latin typeface="Helvetica Neue"/>
                <a:ea typeface="Helvetica Neue"/>
                <a:cs typeface="Helvetica Neue"/>
              </a:defRPr>
            </a:pPr>
            <a:r>
              <a:rPr sz="3600" b="0">
                <a:solidFill>
                  <a:srgbClr val="FFFFFF"/>
                </a:solidFill>
                <a:latin typeface="Helvetica Neue"/>
                <a:ea typeface="Helvetica Neue"/>
                <a:cs typeface="Helvetica Neue"/>
              </a:rPr>
              <a:t>Evidence-aware discovery</a:t>
            </a:r>
          </a:p>
          <a:p xmlns:a="http://schemas.openxmlformats.org/drawingml/2006/main">
            <a:pPr>
              <a:defRPr sz="3600" b="0">
                <a:solidFill>
                  <a:srgbClr val="FFFFFF"/>
                </a:solidFill>
                <a:latin typeface="Helvetica Neue"/>
                <a:ea typeface="Helvetica Neue"/>
                <a:cs typeface="Helvetica Neue"/>
              </a:defRPr>
            </a:pPr>
            <a:r>
              <a:rPr sz="3600" b="0">
                <a:solidFill>
                  <a:srgbClr val="FFFFFF"/>
                </a:solidFill>
                <a:latin typeface="Helvetica Neue"/>
                <a:ea typeface="Helvetica Neue"/>
                <a:cs typeface="Helvetica Neue"/>
              </a:rPr>
              <a:t>across books, films and songs</a:t>
            </a:r>
          </a:p>
        </p:txBody>
      </p:sp>
      <p:sp>
        <p:nvSpPr>
          <p:cNvPr id="3" name="">
            <a:extLst xmlns:a="http://schemas.openxmlformats.org/drawingml/2006/main">
              <a:ext uri="{FF2B5EF4-FFF2-40B4-BE49-F238E27FC236}">
                <a16:creationId xmlns:a16="http://schemas.microsoft.com/office/drawing/2014/main" id="{2B09F740-B36A-4F07-B304-259C6726BF82}"/>
              </a:ext>
            </a:extLst>
          </p:cNvPr>
          <p:cNvSpPr>
            <a:spLocks xmlns:a="http://schemas.openxmlformats.org/drawingml/2006/main" noGrp="1"/>
          </p:cNvSpPr>
          <p:nvPr/>
        </p:nvSpPr>
        <p:spPr>
          <a:xfrm xmlns:a="http://schemas.openxmlformats.org/drawingml/2006/main">
            <a:off x="723900" y="5429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DE9DE"/>
                </a:solidFill>
                <a:latin typeface="Helvetica Neue"/>
                <a:ea typeface="Helvetica Neue"/>
                <a:cs typeface="Helvetica Neue"/>
              </a:defRPr>
            </a:defPPr>
          </a:lstStyle>
          <a:p xmlns:a="http://schemas.openxmlformats.org/drawingml/2006/main">
            <a:pPr>
              <a:defRPr sz="1875" b="0">
                <a:solidFill>
                  <a:srgbClr val="DDE9DE"/>
                </a:solidFill>
                <a:latin typeface="Helvetica Neue"/>
                <a:ea typeface="Helvetica Neue"/>
                <a:cs typeface="Helvetica Neue"/>
              </a:defRPr>
            </a:pPr>
            <a:r>
              <a:rPr sz="1875" b="0">
                <a:solidFill>
                  <a:srgbClr val="DDE9DE"/>
                </a:solidFill>
                <a:latin typeface="Helvetica Neue"/>
                <a:ea typeface="Helvetica Neue"/>
                <a:cs typeface="Helvetica Neue"/>
              </a:rPr>
              <a:t>Graduation project</a:t>
            </a:r>
          </a:p>
          <a:p xmlns:a="http://schemas.openxmlformats.org/drawingml/2006/main">
            <a:pPr>
              <a:defRPr sz="1875" b="0">
                <a:solidFill>
                  <a:srgbClr val="DDE9DE"/>
                </a:solidFill>
                <a:latin typeface="Helvetica Neue"/>
                <a:ea typeface="Helvetica Neue"/>
                <a:cs typeface="Helvetica Neue"/>
              </a:defRPr>
            </a:pPr>
            <a:r>
              <a:rPr sz="1875" b="0">
                <a:solidFill>
                  <a:srgbClr val="DDE9DE"/>
                </a:solidFill>
                <a:latin typeface="Helvetica Neue"/>
                <a:ea typeface="Helvetica Neue"/>
                <a:cs typeface="Helvetica Neue"/>
              </a:rPr>
              <a:t>October 15, 2026</a:t>
            </a:r>
          </a:p>
        </p:txBody>
      </p:sp>
    </p:spTree>
    <p:extLst>
      <p:ext uri="{BB962C8B-B14F-4D97-AF65-F5344CB8AC3E}">
        <p14:creationId xmlns:p14="http://schemas.microsoft.com/office/powerpoint/2010/main" val="901226617"/>
      </p:ext>
    </p:extLst>
  </p:cSld>
</p:sld>
</file>

<file path=ppt/slides/slide2.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4EF9D44-CC43-4291-90E1-BEDF3905880A}"/>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The recovered data and the current evidence bank</a:t>
            </a:r>
          </a:p>
        </p:txBody>
      </p:sp>
      <p:graphicFrame>
        <p:nvGraphicFramePr>
          <p:cNvPr id="2" name="">
            <a:extLst xmlns:a="http://schemas.openxmlformats.org/drawingml/2006/main">
              <a:ext uri="{FF2B5EF4-FFF2-40B4-BE49-F238E27FC236}">
                <a16:creationId xmlns:a16="http://schemas.microsoft.com/office/drawing/2014/main" id="{30654811-5C06-43C4-AC43-45AF16C64745}"/>
              </a:ext>
            </a:extLst>
          </p:cNvPr>
          <p:cNvGraphicFramePr/>
          <p:nvPr/>
        </p:nvGraphicFramePr>
        <p:xfrm>
          <a:off xmlns:a="http://schemas.openxmlformats.org/drawingml/2006/main" x="647700" y="1666875"/>
          <a:ext xmlns:a="http://schemas.openxmlformats.org/drawingml/2006/main" cx="10896600" cy="3000375"/>
        </p:xfrm>
        <a:graphic xmlns:a="http://schemas.openxmlformats.org/drawingml/2006/main">
          <a:graphicData uri="http://schemas.openxmlformats.org/drawingml/2006/table">
            <a:tbl>
              <a:tblPr/>
              <a:tblGrid>
                <a:gridCol w="4095750"/>
                <a:gridCol w="2190750"/>
                <a:gridCol w="4610100"/>
              </a:tblGrid>
              <a:tr h="750094">
                <a:tc>
                  <a:txBody>
                    <a:bodyPr/>
                    <a:lstStyle/>
                    <a:p>
                      <a:r>
                        <a:rPr sz="1875" b="1">
                          <a:solidFill>
                            <a:srgbClr val="FFFFFF"/>
                          </a:solidFill>
                          <a:latin typeface="Helvetica Neue"/>
                          <a:ea typeface="Helvetica Neue"/>
                          <a:cs typeface="Helvetica Neue"/>
                        </a:rPr>
                        <a:t>Layer</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Records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Meaning</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50094">
                <a:tc>
                  <a:txBody>
                    <a:bodyPr/>
                    <a:lstStyle/>
                    <a:p>
                      <a:r>
                        <a:rPr sz="1875" b="0">
                          <a:solidFill>
                            <a:srgbClr val="173C31"/>
                          </a:solidFill>
                          <a:latin typeface="Helvetica Neue"/>
                          <a:ea typeface="Helvetica Neue"/>
                          <a:cs typeface="Helvetica Neue"/>
                        </a:rPr>
                        <a:t>Searchable catalogue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222,896</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Titles and metadata</a:t>
                      </a:r>
                    </a:p>
                  </a:txBody>
                  <a:tcPr marL="91440" marR="91440" marT="45720" marB="45720">
                    <a:lnR w="9525">
                      <a:solidFill>
                        <a:srgbClr val="CAD5CC"/>
                      </a:solidFill>
                      <a:prstDash val="solid"/>
                    </a:lnR>
                    <a:lnB w="9525">
                      <a:solidFill>
                        <a:srgbClr val="CAD5CC"/>
                      </a:solidFill>
                      <a:prstDash val="solid"/>
                    </a:lnB>
                    <a:solidFill>
                      <a:srgbClr val="FFFFFF"/>
                    </a:solidFill>
                  </a:tcPr>
                </a:tc>
              </a:tr>
              <a:tr h="750094">
                <a:tc>
                  <a:txBody>
                    <a:bodyPr/>
                    <a:lstStyle/>
                    <a:p>
                      <a:r>
                        <a:rPr sz="1875" b="0">
                          <a:solidFill>
                            <a:srgbClr val="173C31"/>
                          </a:solidFill>
                          <a:latin typeface="Helvetica Neue"/>
                          <a:ea typeface="Helvetica Neue"/>
                          <a:cs typeface="Helvetica Neue"/>
                        </a:rPr>
                        <a:t>Narrative text index</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50,066</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43,650 films and 6,416 books</a:t>
                      </a:r>
                    </a:p>
                  </a:txBody>
                  <a:tcPr marL="91440" marR="91440" marT="45720" marB="45720">
                    <a:lnR w="9525">
                      <a:solidFill>
                        <a:srgbClr val="CAD5CC"/>
                      </a:solidFill>
                      <a:prstDash val="solid"/>
                    </a:lnR>
                    <a:lnB w="9525">
                      <a:solidFill>
                        <a:srgbClr val="CAD5CC"/>
                      </a:solidFill>
                      <a:prstDash val="solid"/>
                    </a:lnB>
                    <a:solidFill>
                      <a:srgbClr val="E9EFE9"/>
                    </a:solidFill>
                  </a:tcPr>
                </a:tc>
              </a:tr>
              <a:tr h="750094">
                <a:tc>
                  <a:txBody>
                    <a:bodyPr/>
                    <a:lstStyle/>
                    <a:p>
                      <a:r>
                        <a:rPr sz="1875" b="0">
                          <a:solidFill>
                            <a:srgbClr val="173C31"/>
                          </a:solidFill>
                          <a:latin typeface="Helvetica Neue"/>
                          <a:ea typeface="Helvetica Neue"/>
                          <a:cs typeface="Helvetica Neue"/>
                        </a:rPr>
                        <a:t>Evidence bank</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210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102 films, 102 books, 6 tracks</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B5728B0-D3CA-48B2-A071-1724CC0D5871}"/>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Movie ratings: 20,000,263. Song metadata lacks narrative summaries. The 210-work bank is query-selected, and it has no independent preference labels.</a:t>
            </a:r>
          </a:p>
        </p:txBody>
      </p:sp>
    </p:spTree>
    <p:extLst>
      <p:ext uri="{BB962C8B-B14F-4D97-AF65-F5344CB8AC3E}">
        <p14:creationId xmlns:p14="http://schemas.microsoft.com/office/powerpoint/2010/main" val="475544921"/>
      </p:ext>
    </p:extLst>
  </p:cSld>
</p:sld>
</file>

<file path=ppt/slides/slide3.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F47193-5010-457A-BAE7-36F81628DBE5}"/>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A feature can erase a preference distinction</a:t>
            </a:r>
          </a:p>
        </p:txBody>
      </p:sp>
      <p:graphicFrame>
        <p:nvGraphicFramePr>
          <p:cNvPr id="2" name="">
            <a:extLst xmlns:a="http://schemas.openxmlformats.org/drawingml/2006/main">
              <a:ext uri="{FF2B5EF4-FFF2-40B4-BE49-F238E27FC236}">
                <a16:creationId xmlns:a16="http://schemas.microsoft.com/office/drawing/2014/main" id="{888EFFB0-435B-43C0-9035-9AF4BBE4D85E}"/>
              </a:ext>
            </a:extLst>
          </p:cNvPr>
          <p:cNvGraphicFramePr/>
          <p:nvPr/>
        </p:nvGraphicFramePr>
        <p:xfrm>
          <a:off xmlns:a="http://schemas.openxmlformats.org/drawingml/2006/main" x="647700" y="1714500"/>
          <a:ext xmlns:a="http://schemas.openxmlformats.org/drawingml/2006/main" cx="10896600" cy="2190750"/>
        </p:xfrm>
        <a:graphic xmlns:a="http://schemas.openxmlformats.org/drawingml/2006/main">
          <a:graphicData uri="http://schemas.openxmlformats.org/drawingml/2006/table">
            <a:tbl>
              <a:tblPr/>
              <a:tblGrid>
                <a:gridCol w="3714750"/>
                <a:gridCol w="3429000"/>
                <a:gridCol w="3752850"/>
              </a:tblGrid>
              <a:tr h="730250">
                <a:tc>
                  <a:txBody>
                    <a:bodyPr/>
                    <a:lstStyle/>
                    <a:p>
                      <a:r>
                        <a:rPr sz="1875" b="1">
                          <a:solidFill>
                            <a:srgbClr val="FFFFFF"/>
                          </a:solidFill>
                          <a:latin typeface="Helvetica Neue"/>
                          <a:ea typeface="Helvetica Neue"/>
                          <a:cs typeface="Helvetica Neue"/>
                        </a:rPr>
                        <a:t>Development example</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Stored concept</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Stated preference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0250">
                <a:tc>
                  <a:txBody>
                    <a:bodyPr/>
                    <a:lstStyle/>
                    <a:p>
                      <a:r>
                        <a:rPr sz="1875" b="0">
                          <a:solidFill>
                            <a:srgbClr val="173C31"/>
                          </a:solidFill>
                          <a:latin typeface="Helvetica Neue"/>
                          <a:ea typeface="Helvetica Neue"/>
                          <a:cs typeface="Helvetica Neue"/>
                        </a:rPr>
                        <a:t>Work A</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Mystery</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Like</a:t>
                      </a:r>
                    </a:p>
                  </a:txBody>
                  <a:tcPr marL="91440" marR="91440" marT="45720" marB="45720">
                    <a:lnR w="9525">
                      <a:solidFill>
                        <a:srgbClr val="CAD5CC"/>
                      </a:solidFill>
                      <a:prstDash val="solid"/>
                    </a:lnR>
                    <a:lnB w="9525">
                      <a:solidFill>
                        <a:srgbClr val="CAD5CC"/>
                      </a:solidFill>
                      <a:prstDash val="solid"/>
                    </a:lnB>
                    <a:solidFill>
                      <a:srgbClr val="FFFFFF"/>
                    </a:solidFill>
                  </a:tcPr>
                </a:tc>
              </a:tr>
              <a:tr h="730250">
                <a:tc>
                  <a:txBody>
                    <a:bodyPr/>
                    <a:lstStyle/>
                    <a:p>
                      <a:r>
                        <a:rPr sz="1875" b="0">
                          <a:solidFill>
                            <a:srgbClr val="173C31"/>
                          </a:solidFill>
                          <a:latin typeface="Helvetica Neue"/>
                          <a:ea typeface="Helvetica Neue"/>
                          <a:cs typeface="Helvetica Neue"/>
                        </a:rPr>
                        <a:t>Work B</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Mystery</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Dislike</a:t>
                      </a:r>
                    </a:p>
                  </a:txBody>
                  <a:tcPr marL="91440" marR="91440" marT="45720" marB="45720">
                    <a:lnR w="9525">
                      <a:solidFill>
                        <a:srgbClr val="CAD5CC"/>
                      </a:solidFill>
                      <a:prstDash val="solid"/>
                    </a:lnR>
                    <a:lnB w="9525">
                      <a:solidFill>
                        <a:srgbClr val="CAD5CC"/>
                      </a:solidFill>
                      <a:prstDash val="solid"/>
                    </a:lnB>
                    <a:solidFill>
                      <a:srgbClr val="E9EFE9"/>
                    </a:solidFill>
                  </a:tcPr>
                </a:tc>
              </a:tr>
            </a:tbl>
          </a:graphicData>
        </a:graphic>
      </p:graphicFrame>
      <p:sp>
        <p:nvSpPr>
          <p:cNvPr id="3" name="">
            <a:extLst xmlns:a="http://schemas.openxmlformats.org/drawingml/2006/main">
              <a:ext uri="{FF2B5EF4-FFF2-40B4-BE49-F238E27FC236}">
                <a16:creationId xmlns:a16="http://schemas.microsoft.com/office/drawing/2014/main" id="{0BEEC05C-DA75-4A9A-ADEC-9BD1DD922C40}"/>
              </a:ext>
            </a:extLst>
          </p:cNvPr>
          <p:cNvSpPr>
            <a:spLocks xmlns:a="http://schemas.openxmlformats.org/drawingml/2006/main" noGrp="1"/>
          </p:cNvSpPr>
          <p:nvPr/>
        </p:nvSpPr>
        <p:spPr>
          <a:xfrm xmlns:a="http://schemas.openxmlformats.org/drawingml/2006/main">
            <a:off x="704850" y="4381500"/>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C31"/>
                </a:solidFill>
                <a:latin typeface="Helvetica Neue"/>
                <a:ea typeface="Helvetica Neue"/>
                <a:cs typeface="Helvetica Neue"/>
              </a:defRPr>
            </a:defPPr>
          </a:lstStyle>
          <a:p xmlns:a="http://schemas.openxmlformats.org/drawingml/2006/main">
            <a:pPr>
              <a:defRPr sz="2250" b="0">
                <a:solidFill>
                  <a:srgbClr val="173C31"/>
                </a:solidFill>
                <a:latin typeface="Helvetica Neue"/>
                <a:ea typeface="Helvetica Neue"/>
                <a:cs typeface="Helvetica Neue"/>
              </a:defRPr>
            </a:pPr>
            <a:r>
              <a:rPr sz="2250" b="0">
                <a:solidFill>
                  <a:srgbClr val="173C31"/>
                </a:solidFill>
                <a:latin typeface="Helvetica Neue"/>
                <a:ea typeface="Helvetica Neue"/>
                <a:cs typeface="Helvetica Neue"/>
              </a:rPr>
              <a:t>A deterministic classifier given identical inputs must make the same prediction. An explicit explanation identifies a distinction the feature vector lost.</a:t>
            </a:r>
          </a:p>
        </p:txBody>
      </p:sp>
      <p:sp>
        <p:nvSpPr>
          <p:cNvPr id="4" name="">
            <a:extLst xmlns:a="http://schemas.openxmlformats.org/drawingml/2006/main">
              <a:ext uri="{FF2B5EF4-FFF2-40B4-BE49-F238E27FC236}">
                <a16:creationId xmlns:a16="http://schemas.microsoft.com/office/drawing/2014/main" id="{4CBDA9CE-E6EF-4D04-A102-24BB92F3FE21}"/>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Development inputs from one participant. Fitting these examples would not establish performance on new preferences.</a:t>
            </a:r>
          </a:p>
        </p:txBody>
      </p:sp>
    </p:spTree>
    <p:extLst>
      <p:ext uri="{BB962C8B-B14F-4D97-AF65-F5344CB8AC3E}">
        <p14:creationId xmlns:p14="http://schemas.microsoft.com/office/powerpoint/2010/main" val="42755926"/>
      </p:ext>
    </p:extLst>
  </p:cSld>
</p:sld>
</file>

<file path=ppt/slides/slide4.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B1DD6E-BFF7-4B57-8081-D4CB3EDF9A95}"/>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Public-source interpretation and local decisions</a:t>
            </a:r>
          </a:p>
        </p:txBody>
      </p:sp>
      <p:sp>
        <p:nvSpPr>
          <p:cNvPr id="2" name="">
            <a:extLst xmlns:a="http://schemas.openxmlformats.org/drawingml/2006/main">
              <a:ext uri="{FF2B5EF4-FFF2-40B4-BE49-F238E27FC236}">
                <a16:creationId xmlns:a16="http://schemas.microsoft.com/office/drawing/2014/main" id="{6D679A2A-CE79-4105-898B-0D3AF1EFFB16}"/>
              </a:ext>
            </a:extLst>
          </p:cNvPr>
          <p:cNvSpPr>
            <a:spLocks xmlns:a="http://schemas.openxmlformats.org/drawingml/2006/main" noGrp="1"/>
          </p:cNvSpPr>
          <p:nvPr/>
        </p:nvSpPr>
        <p:spPr>
          <a:xfrm xmlns:a="http://schemas.openxmlformats.org/drawingml/2006/main">
            <a:off x="68580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941"/>
                </a:solidFill>
                <a:latin typeface="Helvetica Neue"/>
                <a:ea typeface="Helvetica Neue"/>
                <a:cs typeface="Helvetica Neue"/>
              </a:defRPr>
            </a:defPPr>
          </a:lstStyle>
          <a:p xmlns:a="http://schemas.openxmlformats.org/drawingml/2006/main">
            <a:pPr>
              <a:defRPr sz="2400" b="1">
                <a:solidFill>
                  <a:srgbClr val="205941"/>
                </a:solidFill>
                <a:latin typeface="Helvetica Neue"/>
                <a:ea typeface="Helvetica Neue"/>
                <a:cs typeface="Helvetica Neue"/>
              </a:defRPr>
            </a:pPr>
            <a:r>
              <a:rPr sz="2400" b="1">
                <a:solidFill>
                  <a:srgbClr val="205941"/>
                </a:solidFill>
                <a:latin typeface="Helvetica Neue"/>
                <a:ea typeface="Helvetica Neue"/>
                <a:cs typeface="Helvetica Neue"/>
              </a:rPr>
              <a:t>Interpretation</a:t>
            </a:r>
          </a:p>
        </p:txBody>
      </p:sp>
      <p:sp>
        <p:nvSpPr>
          <p:cNvPr id="3" name="">
            <a:extLst xmlns:a="http://schemas.openxmlformats.org/drawingml/2006/main">
              <a:ext uri="{FF2B5EF4-FFF2-40B4-BE49-F238E27FC236}">
                <a16:creationId xmlns:a16="http://schemas.microsoft.com/office/drawing/2014/main" id="{C6275D0A-26F0-43CD-AC57-3DE5C124B5F9}"/>
              </a:ext>
            </a:extLst>
          </p:cNvPr>
          <p:cNvSpPr>
            <a:spLocks xmlns:a="http://schemas.openxmlformats.org/drawingml/2006/main" noGrp="1"/>
          </p:cNvSpPr>
          <p:nvPr/>
        </p:nvSpPr>
        <p:spPr>
          <a:xfrm xmlns:a="http://schemas.openxmlformats.org/drawingml/2006/main">
            <a:off x="685800" y="2428875"/>
            <a:ext cx="4953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C31"/>
                </a:solidFill>
                <a:latin typeface="Helvetica Neue"/>
                <a:ea typeface="Helvetica Neue"/>
                <a:cs typeface="Helvetica Neue"/>
              </a:defRPr>
            </a:defPPr>
          </a:lstStyle>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Cached DeepSeek source features</a:t>
            </a:r>
          </a:p>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562,464-parameter local language model</a:t>
            </a:r>
          </a:p>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Four explicit criteria for the current request</a:t>
            </a:r>
          </a:p>
        </p:txBody>
      </p:sp>
      <p:sp>
        <p:nvSpPr>
          <p:cNvPr id="4" name="">
            <a:extLst xmlns:a="http://schemas.openxmlformats.org/drawingml/2006/main">
              <a:ext uri="{FF2B5EF4-FFF2-40B4-BE49-F238E27FC236}">
                <a16:creationId xmlns:a16="http://schemas.microsoft.com/office/drawing/2014/main" id="{096B2825-A08A-46D1-B5A0-12D904C293E1}"/>
              </a:ext>
            </a:extLst>
          </p:cNvPr>
          <p:cNvSpPr>
            <a:spLocks xmlns:a="http://schemas.openxmlformats.org/drawingml/2006/main" noGrp="1"/>
          </p:cNvSpPr>
          <p:nvPr/>
        </p:nvSpPr>
        <p:spPr>
          <a:xfrm xmlns:a="http://schemas.openxmlformats.org/drawingml/2006/main">
            <a:off x="647700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941"/>
                </a:solidFill>
                <a:latin typeface="Helvetica Neue"/>
                <a:ea typeface="Helvetica Neue"/>
                <a:cs typeface="Helvetica Neue"/>
              </a:defRPr>
            </a:defPPr>
          </a:lstStyle>
          <a:p xmlns:a="http://schemas.openxmlformats.org/drawingml/2006/main">
            <a:pPr>
              <a:defRPr sz="2400" b="1">
                <a:solidFill>
                  <a:srgbClr val="205941"/>
                </a:solidFill>
                <a:latin typeface="Helvetica Neue"/>
                <a:ea typeface="Helvetica Neue"/>
                <a:cs typeface="Helvetica Neue"/>
              </a:defRPr>
            </a:pPr>
            <a:r>
              <a:rPr sz="2400" b="1">
                <a:solidFill>
                  <a:srgbClr val="205941"/>
                </a:solidFill>
                <a:latin typeface="Helvetica Neue"/>
                <a:ea typeface="Helvetica Neue"/>
                <a:cs typeface="Helvetica Neue"/>
              </a:rPr>
              <a:t>Decision</a:t>
            </a:r>
          </a:p>
        </p:txBody>
      </p:sp>
      <p:sp>
        <p:nvSpPr>
          <p:cNvPr id="5" name="">
            <a:extLst xmlns:a="http://schemas.openxmlformats.org/drawingml/2006/main">
              <a:ext uri="{FF2B5EF4-FFF2-40B4-BE49-F238E27FC236}">
                <a16:creationId xmlns:a16="http://schemas.microsoft.com/office/drawing/2014/main" id="{D9D357DF-C78D-4F82-BCB7-7F4EAAF1EC2F}"/>
              </a:ext>
            </a:extLst>
          </p:cNvPr>
          <p:cNvSpPr>
            <a:spLocks xmlns:a="http://schemas.openxmlformats.org/drawingml/2006/main" noGrp="1"/>
          </p:cNvSpPr>
          <p:nvPr/>
        </p:nvSpPr>
        <p:spPr>
          <a:xfrm xmlns:a="http://schemas.openxmlformats.org/drawingml/2006/main">
            <a:off x="6477000" y="2428875"/>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C31"/>
                </a:solidFill>
                <a:latin typeface="Helvetica Neue"/>
                <a:ea typeface="Helvetica Neue"/>
                <a:cs typeface="Helvetica Neue"/>
              </a:defRPr>
            </a:defPPr>
          </a:lstStyle>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Exact excerpts and source-version checks</a:t>
            </a:r>
          </a:p>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Unknown features remain unknown</a:t>
            </a:r>
          </a:p>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Conditional choice or abstention</a:t>
            </a:r>
          </a:p>
        </p:txBody>
      </p:sp>
      <p:sp>
        <p:nvSpPr>
          <p:cNvPr id="6" name="">
            <a:extLst xmlns:a="http://schemas.openxmlformats.org/drawingml/2006/main">
              <a:ext uri="{FF2B5EF4-FFF2-40B4-BE49-F238E27FC236}">
                <a16:creationId xmlns:a16="http://schemas.microsoft.com/office/drawing/2014/main" id="{77A3C3A4-BAA3-495E-BF68-D3F8292044F1}"/>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The tiny-model path filters proposals through cached teacher evidence. Quote validity establishes provenance; interpretation and personal usefulness require evaluation.</a:t>
            </a:r>
          </a:p>
        </p:txBody>
      </p:sp>
    </p:spTree>
    <p:extLst>
      <p:ext uri="{BB962C8B-B14F-4D97-AF65-F5344CB8AC3E}">
        <p14:creationId xmlns:p14="http://schemas.microsoft.com/office/powerpoint/2010/main" val="773877345"/>
      </p:ext>
    </p:extLst>
  </p:cSld>
</p:sld>
</file>

<file path=ppt/slides/slide5.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0AE7695-3BA9-435A-B778-F823C8644AF8}"/>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Evidence removal changes a concrete choice</a:t>
            </a:r>
          </a:p>
        </p:txBody>
      </p:sp>
      <p:graphicFrame>
        <p:nvGraphicFramePr>
          <p:cNvPr id="2" name="">
            <a:extLst xmlns:a="http://schemas.openxmlformats.org/drawingml/2006/main">
              <a:ext uri="{FF2B5EF4-FFF2-40B4-BE49-F238E27FC236}">
                <a16:creationId xmlns:a16="http://schemas.microsoft.com/office/drawing/2014/main" id="{B8F5B9A0-306F-4F30-B3E1-95817025D9F1}"/>
              </a:ext>
            </a:extLst>
          </p:cNvPr>
          <p:cNvGraphicFramePr/>
          <p:nvPr/>
        </p:nvGraphicFramePr>
        <p:xfrm>
          <a:off xmlns:a="http://schemas.openxmlformats.org/drawingml/2006/main" x="647700" y="1714500"/>
          <a:ext xmlns:a="http://schemas.openxmlformats.org/drawingml/2006/main" cx="10896600" cy="2952750"/>
        </p:xfrm>
        <a:graphic xmlns:a="http://schemas.openxmlformats.org/drawingml/2006/main">
          <a:graphicData uri="http://schemas.openxmlformats.org/drawingml/2006/table">
            <a:tbl>
              <a:tblPr/>
              <a:tblGrid>
                <a:gridCol w="6572250"/>
                <a:gridCol w="4324350"/>
              </a:tblGrid>
              <a:tr h="738188">
                <a:tc>
                  <a:txBody>
                    <a:bodyPr/>
                    <a:lstStyle/>
                    <a:p>
                      <a:r>
                        <a:rPr sz="1875" b="1">
                          <a:solidFill>
                            <a:srgbClr val="FFFFFF"/>
                          </a:solidFill>
                          <a:latin typeface="Helvetica Neue"/>
                          <a:ea typeface="Helvetica Neue"/>
                          <a:cs typeface="Helvetica Neue"/>
                        </a:rPr>
                        <a:t>Request / condition</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Choice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8188">
                <a:tc>
                  <a:txBody>
                    <a:bodyPr/>
                    <a:lstStyle/>
                    <a:p>
                      <a:r>
                        <a:rPr sz="1875" b="0">
                          <a:solidFill>
                            <a:srgbClr val="173C31"/>
                          </a:solidFill>
                          <a:latin typeface="Helvetica Neue"/>
                          <a:ea typeface="Helvetica Neue"/>
                          <a:cs typeface="Helvetica Neue"/>
                        </a:rPr>
                        <a:t>Investigation and unsettling atmosphere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Vanishing Acts</a:t>
                      </a:r>
                    </a:p>
                  </a:txBody>
                  <a:tcPr marL="91440" marR="91440" marT="45720" marB="45720">
                    <a:lnR w="9525">
                      <a:solidFill>
                        <a:srgbClr val="CAD5CC"/>
                      </a:solidFill>
                      <a:prstDash val="solid"/>
                    </a:lnR>
                    <a:lnB w="9525">
                      <a:solidFill>
                        <a:srgbClr val="CAD5CC"/>
                      </a:solidFill>
                      <a:prstDash val="solid"/>
                    </a:lnB>
                    <a:solidFill>
                      <a:srgbClr val="FFFFFF"/>
                    </a:solidFill>
                  </a:tcPr>
                </a:tc>
              </a:tr>
              <a:tr h="738188">
                <a:tc>
                  <a:txBody>
                    <a:bodyPr/>
                    <a:lstStyle/>
                    <a:p>
                      <a:r>
                        <a:rPr sz="1875" b="0">
                          <a:solidFill>
                            <a:srgbClr val="173C31"/>
                          </a:solidFill>
                          <a:latin typeface="Helvetica Neue"/>
                          <a:ea typeface="Helvetica Neue"/>
                          <a:cs typeface="Helvetica Neue"/>
                        </a:rPr>
                        <a:t>Remove its atmosphere evidence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Annihilation</a:t>
                      </a:r>
                    </a:p>
                  </a:txBody>
                  <a:tcPr marL="91440" marR="91440" marT="45720" marB="45720">
                    <a:lnR w="9525">
                      <a:solidFill>
                        <a:srgbClr val="CAD5CC"/>
                      </a:solidFill>
                      <a:prstDash val="solid"/>
                    </a:lnR>
                    <a:lnB w="9525">
                      <a:solidFill>
                        <a:srgbClr val="CAD5CC"/>
                      </a:solidFill>
                      <a:prstDash val="solid"/>
                    </a:lnB>
                    <a:solidFill>
                      <a:srgbClr val="E9EFE9"/>
                    </a:solidFill>
                  </a:tcPr>
                </a:tc>
              </a:tr>
              <a:tr h="738188">
                <a:tc>
                  <a:txBody>
                    <a:bodyPr/>
                    <a:lstStyle/>
                    <a:p>
                      <a:r>
                        <a:rPr sz="1875" b="0">
                          <a:solidFill>
                            <a:srgbClr val="173C31"/>
                          </a:solidFill>
                          <a:latin typeface="Helvetica Neue"/>
                          <a:ea typeface="Helvetica Neue"/>
                          <a:cs typeface="Helvetica Neue"/>
                        </a:rPr>
                        <a:t>Only title and creator credits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Abstention</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6106BEF-1646-4702-8864-4D034EB4FEAE}"/>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The choice depends on the declared source-feature model. Source excerpts do not establish that the work will engage or frighten a particular person.</a:t>
            </a:r>
          </a:p>
        </p:txBody>
      </p:sp>
    </p:spTree>
    <p:extLst>
      <p:ext uri="{BB962C8B-B14F-4D97-AF65-F5344CB8AC3E}">
        <p14:creationId xmlns:p14="http://schemas.microsoft.com/office/powerpoint/2010/main" val="1810840973"/>
      </p:ext>
    </p:extLst>
  </p:cSld>
</p:sld>
</file>

<file path=ppt/slides/slide6.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EDABAA9-9CE3-442A-80E7-383A0F8883A0}"/>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Source-reading agreement in a development sample</a:t>
            </a:r>
          </a:p>
        </p:txBody>
      </p:sp>
      <p:graphicFrame>
        <p:nvGraphicFramePr>
          <p:cNvPr id="2" name="Chart">
            <a:extLst xmlns:a="http://schemas.openxmlformats.org/drawingml/2006/main">
              <a:ext uri="{FF2B5EF4-FFF2-40B4-BE49-F238E27FC236}">
                <a16:creationId xmlns:a16="http://schemas.microsoft.com/office/drawing/2014/main" id="{DD470C45-F036-4101-8035-A8E7AFFA5181}"/>
              </a:ext>
            </a:extLst>
          </p:cNvPr>
          <p:cNvGraphicFramePr/>
          <p:nvPr/>
        </p:nvGraphicFramePr>
        <p:xfrm>
          <a:off xmlns:a="http://schemas.openxmlformats.org/drawingml/2006/main" x="857250" y="1733550"/>
          <a:ext xmlns:a="http://schemas.openxmlformats.org/drawingml/2006/main" cx="10382250" cy="3667125"/>
        </p:xfrm>
        <a:graphic xmlns:a="http://schemas.openxmlformats.org/drawingml/2006/main">
          <a:graphicData uri="http://schemas.openxmlformats.org/drawingml/2006/chart">
            <c:chart xmlns:r="http://schemas.openxmlformats.org/officeDocument/2006/relationships" xmlns:c="http://schemas.openxmlformats.org/drawingml/2006/chart" r:id="Ra1c74d9de21a4071"/>
          </a:graphicData>
        </a:graphic>
      </p:graphicFrame>
      <p:sp>
        <p:nvSpPr>
          <p:cNvPr id="3" name="">
            <a:extLst xmlns:a="http://schemas.openxmlformats.org/drawingml/2006/main">
              <a:ext uri="{FF2B5EF4-FFF2-40B4-BE49-F238E27FC236}">
                <a16:creationId xmlns:a16="http://schemas.microsoft.com/office/drawing/2014/main" id="{F9FBA028-7293-4C36-BF2C-631CDF137C1E}"/>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Mean NDCG@3 on 11 request types. Reference labels are assistant-authored. DeepSeek feature F1: 0.913, with four missed labels in 18 supplied passages.</a:t>
            </a:r>
          </a:p>
        </p:txBody>
      </p:sp>
    </p:spTree>
    <p:extLst>
      <p:ext uri="{BB962C8B-B14F-4D97-AF65-F5344CB8AC3E}">
        <p14:creationId xmlns:p14="http://schemas.microsoft.com/office/powerpoint/2010/main" val="569592776"/>
      </p:ext>
    </p:extLst>
  </p:cSld>
</p:sld>
</file>

<file path=ppt/slides/slide7.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CF5F2EF-260E-4E4F-90FD-A9F59F70CEF0}"/>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The tiny language model remains weak</a:t>
            </a:r>
          </a:p>
        </p:txBody>
      </p:sp>
      <p:graphicFrame>
        <p:nvGraphicFramePr>
          <p:cNvPr id="2" name="Chart">
            <a:extLst xmlns:a="http://schemas.openxmlformats.org/drawingml/2006/main">
              <a:ext uri="{FF2B5EF4-FFF2-40B4-BE49-F238E27FC236}">
                <a16:creationId xmlns:a16="http://schemas.microsoft.com/office/drawing/2014/main" id="{707C2EF2-F4AB-471A-BD0F-7524E5AE0A38}"/>
              </a:ext>
            </a:extLst>
          </p:cNvPr>
          <p:cNvGraphicFramePr/>
          <p:nvPr/>
        </p:nvGraphicFramePr>
        <p:xfrm>
          <a:off xmlns:a="http://schemas.openxmlformats.org/drawingml/2006/main" x="857250" y="1733550"/>
          <a:ext xmlns:a="http://schemas.openxmlformats.org/drawingml/2006/main" cx="10382250" cy="3667125"/>
        </p:xfrm>
        <a:graphic xmlns:a="http://schemas.openxmlformats.org/drawingml/2006/main">
          <a:graphicData uri="http://schemas.openxmlformats.org/drawingml/2006/chart">
            <c:chart xmlns:r="http://schemas.openxmlformats.org/officeDocument/2006/relationships" xmlns:c="http://schemas.openxmlformats.org/drawingml/2006/chart" r:id="R2289d6b145814533"/>
          </a:graphicData>
        </a:graphic>
      </p:graphicFrame>
      <p:sp>
        <p:nvSpPr>
          <p:cNvPr id="3" name="">
            <a:extLst xmlns:a="http://schemas.openxmlformats.org/drawingml/2006/main">
              <a:ext uri="{FF2B5EF4-FFF2-40B4-BE49-F238E27FC236}">
                <a16:creationId xmlns:a16="http://schemas.microsoft.com/office/drawing/2014/main" id="{68CF8F3E-E601-4FAB-A3FA-FD744F5AB1AE}"/>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F1 against the same assistant-authored reference. The small data and distribution shift limit the student. The earlier tiny-model run reached F1 0.211.</a:t>
            </a:r>
          </a:p>
        </p:txBody>
      </p:sp>
    </p:spTree>
    <p:extLst>
      <p:ext uri="{BB962C8B-B14F-4D97-AF65-F5344CB8AC3E}">
        <p14:creationId xmlns:p14="http://schemas.microsoft.com/office/powerpoint/2010/main" val="1553699372"/>
      </p:ext>
    </p:extLst>
  </p:cSld>
</p:sld>
</file>

<file path=ppt/slides/slide8.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36B764-ADC4-4D78-A669-15492A08CAC5}"/>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A separate human reading pilot exposes the gap</a:t>
            </a:r>
          </a:p>
        </p:txBody>
      </p:sp>
      <p:graphicFrame>
        <p:nvGraphicFramePr>
          <p:cNvPr id="2" name="">
            <a:extLst xmlns:a="http://schemas.openxmlformats.org/drawingml/2006/main">
              <a:ext uri="{FF2B5EF4-FFF2-40B4-BE49-F238E27FC236}">
                <a16:creationId xmlns:a16="http://schemas.microsoft.com/office/drawing/2014/main" id="{66D9A7FA-8375-42BD-BA6F-F672B031685E}"/>
              </a:ext>
            </a:extLst>
          </p:cNvPr>
          <p:cNvGraphicFramePr/>
          <p:nvPr/>
        </p:nvGraphicFramePr>
        <p:xfrm>
          <a:off xmlns:a="http://schemas.openxmlformats.org/drawingml/2006/main" x="647700" y="1714500"/>
          <a:ext xmlns:a="http://schemas.openxmlformats.org/drawingml/2006/main" cx="10896600" cy="2762250"/>
        </p:xfrm>
        <a:graphic xmlns:a="http://schemas.openxmlformats.org/drawingml/2006/main">
          <a:graphicData uri="http://schemas.openxmlformats.org/drawingml/2006/table">
            <a:tbl>
              <a:tblPr/>
              <a:tblGrid>
                <a:gridCol w="3810000"/>
                <a:gridCol w="2362200"/>
                <a:gridCol w="2362200"/>
                <a:gridCol w="2362200"/>
              </a:tblGrid>
              <a:tr h="690563">
                <a:tc>
                  <a:txBody>
                    <a:bodyPr/>
                    <a:lstStyle/>
                    <a:p>
                      <a:r>
                        <a:rPr sz="1875" b="1">
                          <a:solidFill>
                            <a:srgbClr val="FFFFFF"/>
                          </a:solidFill>
                          <a:latin typeface="Helvetica Neue"/>
                          <a:ea typeface="Helvetica Neue"/>
                          <a:cs typeface="Helvetica Neue"/>
                        </a:rPr>
                        <a:t>Frozen model</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Matching positives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Extra labels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Missed labels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690563">
                <a:tc>
                  <a:txBody>
                    <a:bodyPr/>
                    <a:lstStyle/>
                    <a:p>
                      <a:r>
                        <a:rPr sz="1875" b="0">
                          <a:solidFill>
                            <a:srgbClr val="173C31"/>
                          </a:solidFill>
                          <a:latin typeface="Helvetica Neue"/>
                          <a:ea typeface="Helvetica Neue"/>
                          <a:cs typeface="Helvetica Neue"/>
                        </a:rPr>
                        <a:t>DeepSeek</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6</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a:t>
                      </a:r>
                    </a:p>
                  </a:txBody>
                  <a:tcPr marL="91440" marR="91440" marT="45720" marB="45720">
                    <a:lnR w="9525">
                      <a:solidFill>
                        <a:srgbClr val="CAD5CC"/>
                      </a:solidFill>
                      <a:prstDash val="solid"/>
                    </a:lnR>
                    <a:lnB w="9525">
                      <a:solidFill>
                        <a:srgbClr val="CAD5CC"/>
                      </a:solidFill>
                      <a:prstDash val="solid"/>
                    </a:lnB>
                    <a:solidFill>
                      <a:srgbClr val="FFFFFF"/>
                    </a:solidFill>
                  </a:tcPr>
                </a:tc>
              </a:tr>
              <a:tr h="690563">
                <a:tc>
                  <a:txBody>
                    <a:bodyPr/>
                    <a:lstStyle/>
                    <a:p>
                      <a:r>
                        <a:rPr sz="1875" b="0">
                          <a:solidFill>
                            <a:srgbClr val="173C31"/>
                          </a:solidFill>
                          <a:latin typeface="Helvetica Neue"/>
                          <a:ea typeface="Helvetica Neue"/>
                          <a:cs typeface="Helvetica Neue"/>
                        </a:rPr>
                        <a:t>Tiny causal LM v2</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2</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7</a:t>
                      </a:r>
                    </a:p>
                  </a:txBody>
                  <a:tcPr marL="91440" marR="91440" marT="45720" marB="45720">
                    <a:lnR w="9525">
                      <a:solidFill>
                        <a:srgbClr val="CAD5CC"/>
                      </a:solidFill>
                      <a:prstDash val="solid"/>
                    </a:lnR>
                    <a:lnB w="9525">
                      <a:solidFill>
                        <a:srgbClr val="CAD5CC"/>
                      </a:solidFill>
                      <a:prstDash val="solid"/>
                    </a:lnB>
                    <a:solidFill>
                      <a:srgbClr val="E9EFE9"/>
                    </a:solidFill>
                  </a:tcPr>
                </a:tc>
              </a:tr>
              <a:tr h="690563">
                <a:tc>
                  <a:txBody>
                    <a:bodyPr/>
                    <a:lstStyle/>
                    <a:p>
                      <a:r>
                        <a:rPr sz="1875" b="0">
                          <a:solidFill>
                            <a:srgbClr val="173C31"/>
                          </a:solidFill>
                          <a:latin typeface="Helvetica Neue"/>
                          <a:ea typeface="Helvetica Neue"/>
                          <a:cs typeface="Helvetica Neue"/>
                        </a:rPr>
                        <a:t>Tiny + evidence gate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7</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28A57BD-731B-4FB2-B9E8-D81C767D2F8E}"/>
              </a:ext>
            </a:extLst>
          </p:cNvPr>
          <p:cNvSpPr>
            <a:spLocks xmlns:a="http://schemas.openxmlformats.org/drawingml/2006/main" noGrp="1"/>
          </p:cNvSpPr>
          <p:nvPr/>
        </p:nvSpPr>
        <p:spPr>
          <a:xfrm xmlns:a="http://schemas.openxmlformats.org/drawingml/2006/main">
            <a:off x="714375" y="4667250"/>
            <a:ext cx="1047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C31"/>
                </a:solidFill>
                <a:latin typeface="Helvetica Neue"/>
                <a:ea typeface="Helvetica Neue"/>
                <a:cs typeface="Helvetica Neue"/>
              </a:defRPr>
            </a:defPPr>
          </a:lstStyle>
          <a:p xmlns:a="http://schemas.openxmlformats.org/drawingml/2006/main">
            <a:pPr>
              <a:defRPr sz="2250" b="0">
                <a:solidFill>
                  <a:srgbClr val="173C31"/>
                </a:solidFill>
                <a:latin typeface="Helvetica Neue"/>
                <a:ea typeface="Helvetica Neue"/>
                <a:cs typeface="Helvetica Neue"/>
              </a:defRPr>
            </a:pPr>
            <a:r>
              <a:rPr sz="2250" b="0">
                <a:solidFill>
                  <a:srgbClr val="173C31"/>
                </a:solidFill>
                <a:latin typeface="Helvetica Neue"/>
                <a:ea typeface="Helvetica Neue"/>
                <a:cs typeface="Helvetica Neue"/>
              </a:rPr>
              <a:t>Filtering removed two extra labels, but retained no positive matches. More reliable student learning remains necessary.</a:t>
            </a:r>
          </a:p>
        </p:txBody>
      </p:sp>
      <p:sp>
        <p:nvSpPr>
          <p:cNvPr id="4" name="">
            <a:extLst xmlns:a="http://schemas.openxmlformats.org/drawingml/2006/main">
              <a:ext uri="{FF2B5EF4-FFF2-40B4-BE49-F238E27FC236}">
                <a16:creationId xmlns:a16="http://schemas.microsoft.com/office/drawing/2014/main" id="{B53C3323-B671-4D39-880D-74D66DE14D1E}"/>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One participant: five judged paragraphs, one unsure. Predictions were frozen before review. This does not measure recommendation satisfaction.</a:t>
            </a:r>
          </a:p>
        </p:txBody>
      </p:sp>
    </p:spTree>
    <p:extLst>
      <p:ext uri="{BB962C8B-B14F-4D97-AF65-F5344CB8AC3E}">
        <p14:creationId xmlns:p14="http://schemas.microsoft.com/office/powerpoint/2010/main" val="1661452092"/>
      </p:ext>
    </p:extLst>
  </p:cSld>
</p:sld>
</file>

<file path=ppt/slides/slide9.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2A6973B-F1E0-4574-8B54-E3BC8A01E479}"/>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The strongest planning baselines tie</a:t>
            </a:r>
          </a:p>
        </p:txBody>
      </p:sp>
      <p:graphicFrame>
        <p:nvGraphicFramePr>
          <p:cNvPr id="2" name="">
            <a:extLst xmlns:a="http://schemas.openxmlformats.org/drawingml/2006/main">
              <a:ext uri="{FF2B5EF4-FFF2-40B4-BE49-F238E27FC236}">
                <a16:creationId xmlns:a16="http://schemas.microsoft.com/office/drawing/2014/main" id="{3AB3FAA7-6A82-4B1A-95A3-D19776ED0F2A}"/>
              </a:ext>
            </a:extLst>
          </p:cNvPr>
          <p:cNvGraphicFramePr/>
          <p:nvPr/>
        </p:nvGraphicFramePr>
        <p:xfrm>
          <a:off xmlns:a="http://schemas.openxmlformats.org/drawingml/2006/main" x="647700" y="1714500"/>
          <a:ext xmlns:a="http://schemas.openxmlformats.org/drawingml/2006/main" cx="10896600" cy="3190875"/>
        </p:xfrm>
        <a:graphic xmlns:a="http://schemas.openxmlformats.org/drawingml/2006/main">
          <a:graphicData uri="http://schemas.openxmlformats.org/drawingml/2006/table">
            <a:tbl>
              <a:tblPr/>
              <a:tblGrid>
                <a:gridCol w="5143500"/>
                <a:gridCol w="2667000"/>
                <a:gridCol w="3086100"/>
              </a:tblGrid>
              <a:tr h="638175">
                <a:tc>
                  <a:txBody>
                    <a:bodyPr/>
                    <a:lstStyle/>
                    <a:p>
                      <a:r>
                        <a:rPr sz="1875" b="1">
                          <a:solidFill>
                            <a:srgbClr val="FFFFFF"/>
                          </a:solidFill>
                          <a:latin typeface="Helvetica Neue"/>
                          <a:ea typeface="Helvetica Neue"/>
                          <a:cs typeface="Helvetica Neue"/>
                        </a:rPr>
                        <a:t>Policy</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Recommendations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Mean modeled loss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638175">
                <a:tc>
                  <a:txBody>
                    <a:bodyPr/>
                    <a:lstStyle/>
                    <a:p>
                      <a:r>
                        <a:rPr sz="1875" b="0">
                          <a:solidFill>
                            <a:srgbClr val="173C31"/>
                          </a:solidFill>
                          <a:latin typeface="Helvetica Neue"/>
                          <a:ea typeface="Helvetica Neue"/>
                          <a:cs typeface="Helvetica Neue"/>
                        </a:rPr>
                        <a:t>Exact planner</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24 / 24</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0.0300</a:t>
                      </a:r>
                    </a:p>
                  </a:txBody>
                  <a:tcPr marL="91440" marR="91440" marT="45720" marB="45720">
                    <a:lnR w="9525">
                      <a:solidFill>
                        <a:srgbClr val="CAD5CC"/>
                      </a:solidFill>
                      <a:prstDash val="solid"/>
                    </a:lnR>
                    <a:lnB w="9525">
                      <a:solidFill>
                        <a:srgbClr val="CAD5CC"/>
                      </a:solidFill>
                      <a:prstDash val="solid"/>
                    </a:lnB>
                    <a:solidFill>
                      <a:srgbClr val="FFFFFF"/>
                    </a:solidFill>
                  </a:tcPr>
                </a:tc>
              </a:tr>
              <a:tr h="638175">
                <a:tc>
                  <a:txBody>
                    <a:bodyPr/>
                    <a:lstStyle/>
                    <a:p>
                      <a:r>
                        <a:rPr sz="1875" b="0">
                          <a:solidFill>
                            <a:srgbClr val="173C31"/>
                          </a:solidFill>
                          <a:latin typeface="Helvetica Neue"/>
                          <a:ea typeface="Helvetica Neue"/>
                          <a:cs typeface="Helvetica Neue"/>
                        </a:rPr>
                        <a:t>Information gain</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24 / 24</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0.0300</a:t>
                      </a:r>
                    </a:p>
                  </a:txBody>
                  <a:tcPr marL="91440" marR="91440" marT="45720" marB="45720">
                    <a:lnR w="9525">
                      <a:solidFill>
                        <a:srgbClr val="CAD5CC"/>
                      </a:solidFill>
                      <a:prstDash val="solid"/>
                    </a:lnR>
                    <a:lnB w="9525">
                      <a:solidFill>
                        <a:srgbClr val="CAD5CC"/>
                      </a:solidFill>
                      <a:prstDash val="solid"/>
                    </a:lnB>
                    <a:solidFill>
                      <a:srgbClr val="E9EFE9"/>
                    </a:solidFill>
                  </a:tcPr>
                </a:tc>
              </a:tr>
              <a:tr h="638175">
                <a:tc>
                  <a:txBody>
                    <a:bodyPr/>
                    <a:lstStyle/>
                    <a:p>
                      <a:r>
                        <a:rPr sz="1875" b="0">
                          <a:solidFill>
                            <a:srgbClr val="173C31"/>
                          </a:solidFill>
                          <a:latin typeface="Helvetica Neue"/>
                          <a:ea typeface="Helvetica Neue"/>
                          <a:cs typeface="Helvetica Neue"/>
                        </a:rPr>
                        <a:t>DeepSeek</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24 / 24</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0.0300</a:t>
                      </a:r>
                    </a:p>
                  </a:txBody>
                  <a:tcPr marL="91440" marR="91440" marT="45720" marB="45720">
                    <a:lnR w="9525">
                      <a:solidFill>
                        <a:srgbClr val="CAD5CC"/>
                      </a:solidFill>
                      <a:prstDash val="solid"/>
                    </a:lnR>
                    <a:lnB w="9525">
                      <a:solidFill>
                        <a:srgbClr val="CAD5CC"/>
                      </a:solidFill>
                      <a:prstDash val="solid"/>
                    </a:lnB>
                    <a:solidFill>
                      <a:srgbClr val="FFFFFF"/>
                    </a:solidFill>
                  </a:tcPr>
                </a:tc>
              </a:tr>
              <a:tr h="638175">
                <a:tc>
                  <a:txBody>
                    <a:bodyPr/>
                    <a:lstStyle/>
                    <a:p>
                      <a:r>
                        <a:rPr sz="1875" b="0">
                          <a:solidFill>
                            <a:srgbClr val="173C31"/>
                          </a:solidFill>
                          <a:latin typeface="Helvetica Neue"/>
                          <a:ea typeface="Helvetica Neue"/>
                          <a:cs typeface="Helvetica Neue"/>
                        </a:rPr>
                        <a:t>One-step decision value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18 / 24</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0.1275</a:t>
                      </a:r>
                    </a:p>
                  </a:txBody>
                  <a:tcPr marL="91440" marR="91440" marT="45720" marB="45720">
                    <a:lnR w="9525">
                      <a:solidFill>
                        <a:srgbClr val="CAD5CC"/>
                      </a:solidFill>
                      <a:prstDash val="solid"/>
                    </a:lnR>
                    <a:lnB w="9525">
                      <a:solidFill>
                        <a:srgbClr val="CAD5CC"/>
                      </a:solidFill>
                      <a:prstDash val="solid"/>
                    </a:lnB>
                    <a:solidFill>
                      <a:srgbClr val="E9EFE9"/>
                    </a:solidFill>
                  </a:tcPr>
                </a:tc>
              </a:tr>
            </a:tbl>
          </a:graphicData>
        </a:graphic>
      </p:graphicFrame>
      <p:sp>
        <p:nvSpPr>
          <p:cNvPr id="3" name="">
            <a:extLst xmlns:a="http://schemas.openxmlformats.org/drawingml/2006/main">
              <a:ext uri="{FF2B5EF4-FFF2-40B4-BE49-F238E27FC236}">
                <a16:creationId xmlns:a16="http://schemas.microsoft.com/office/drawing/2014/main" id="{B184F191-6AED-494A-AA7B-69F173DB6C79}"/>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Controlled mechanism test with scripted preferences and assumed action costs. The tie provides no evidence of superiority over the strong baselines.</a:t>
            </a:r>
          </a:p>
        </p:txBody>
      </p:sp>
    </p:spTree>
    <p:extLst>
      <p:ext uri="{BB962C8B-B14F-4D97-AF65-F5344CB8AC3E}">
        <p14:creationId xmlns:p14="http://schemas.microsoft.com/office/powerpoint/2010/main" val="1162784245"/>
      </p:ext>
    </p:extLst>
  </p:cSld>
</p:sld>
</file>

<file path=ppt/slides/slide10.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6DE51A-6D5F-4C21-B641-D572BF27086D}"/>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The movie pilot measured a relevance tradeoff</a:t>
            </a:r>
          </a:p>
        </p:txBody>
      </p:sp>
      <p:graphicFrame>
        <p:nvGraphicFramePr>
          <p:cNvPr id="2" name="">
            <a:extLst xmlns:a="http://schemas.openxmlformats.org/drawingml/2006/main">
              <a:ext uri="{FF2B5EF4-FFF2-40B4-BE49-F238E27FC236}">
                <a16:creationId xmlns:a16="http://schemas.microsoft.com/office/drawing/2014/main" id="{D40DD742-F642-4579-AE29-C012F600B61F}"/>
              </a:ext>
            </a:extLst>
          </p:cNvPr>
          <p:cNvGraphicFramePr/>
          <p:nvPr/>
        </p:nvGraphicFramePr>
        <p:xfrm>
          <a:off xmlns:a="http://schemas.openxmlformats.org/drawingml/2006/main" x="647700" y="1714500"/>
          <a:ext xmlns:a="http://schemas.openxmlformats.org/drawingml/2006/main" cx="10896600" cy="3190875"/>
        </p:xfrm>
        <a:graphic xmlns:a="http://schemas.openxmlformats.org/drawingml/2006/main">
          <a:graphicData uri="http://schemas.openxmlformats.org/drawingml/2006/table">
            <a:tbl>
              <a:tblPr/>
              <a:tblGrid>
                <a:gridCol w="4953000"/>
                <a:gridCol w="2952750"/>
                <a:gridCol w="2990850"/>
              </a:tblGrid>
              <a:tr h="638175">
                <a:tc>
                  <a:txBody>
                    <a:bodyPr/>
                    <a:lstStyle/>
                    <a:p>
                      <a:r>
                        <a:rPr sz="1875" b="1">
                          <a:solidFill>
                            <a:srgbClr val="FFFFFF"/>
                          </a:solidFill>
                          <a:latin typeface="Helvetica Neue"/>
                          <a:ea typeface="Helvetica Neue"/>
                          <a:cs typeface="Helvetica Neue"/>
                        </a:rPr>
                        <a:t>Measure</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Hybrid</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Discovery</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638175">
                <a:tc>
                  <a:txBody>
                    <a:bodyPr/>
                    <a:lstStyle/>
                    <a:p>
                      <a:r>
                        <a:rPr sz="1875" b="0">
                          <a:solidFill>
                            <a:srgbClr val="173C31"/>
                          </a:solidFill>
                          <a:latin typeface="Helvetica Neue"/>
                          <a:ea typeface="Helvetica Neue"/>
                          <a:cs typeface="Helvetica Neue"/>
                        </a:rPr>
                        <a:t>NDCG@10</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0.1547</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0.1498</a:t>
                      </a:r>
                    </a:p>
                  </a:txBody>
                  <a:tcPr marL="91440" marR="91440" marT="45720" marB="45720">
                    <a:lnR w="9525">
                      <a:solidFill>
                        <a:srgbClr val="CAD5CC"/>
                      </a:solidFill>
                      <a:prstDash val="solid"/>
                    </a:lnR>
                    <a:lnB w="9525">
                      <a:solidFill>
                        <a:srgbClr val="CAD5CC"/>
                      </a:solidFill>
                      <a:prstDash val="solid"/>
                    </a:lnB>
                    <a:solidFill>
                      <a:srgbClr val="FFFFFF"/>
                    </a:solidFill>
                  </a:tcPr>
                </a:tc>
              </a:tr>
              <a:tr h="638175">
                <a:tc>
                  <a:txBody>
                    <a:bodyPr/>
                    <a:lstStyle/>
                    <a:p>
                      <a:r>
                        <a:rPr sz="1875" b="0">
                          <a:solidFill>
                            <a:srgbClr val="173C31"/>
                          </a:solidFill>
                          <a:latin typeface="Helvetica Neue"/>
                          <a:ea typeface="Helvetica Neue"/>
                          <a:cs typeface="Helvetica Neue"/>
                        </a:rPr>
                        <a:t>Recall@10</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0.0768</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0.0662</a:t>
                      </a:r>
                    </a:p>
                  </a:txBody>
                  <a:tcPr marL="91440" marR="91440" marT="45720" marB="45720">
                    <a:lnR w="9525">
                      <a:solidFill>
                        <a:srgbClr val="CAD5CC"/>
                      </a:solidFill>
                      <a:prstDash val="solid"/>
                    </a:lnR>
                    <a:lnB w="9525">
                      <a:solidFill>
                        <a:srgbClr val="CAD5CC"/>
                      </a:solidFill>
                      <a:prstDash val="solid"/>
                    </a:lnB>
                    <a:solidFill>
                      <a:srgbClr val="E9EFE9"/>
                    </a:solidFill>
                  </a:tcPr>
                </a:tc>
              </a:tr>
              <a:tr h="638175">
                <a:tc>
                  <a:txBody>
                    <a:bodyPr/>
                    <a:lstStyle/>
                    <a:p>
                      <a:r>
                        <a:rPr sz="1875" b="0">
                          <a:solidFill>
                            <a:srgbClr val="173C31"/>
                          </a:solidFill>
                          <a:latin typeface="Helvetica Neue"/>
                          <a:ea typeface="Helvetica Neue"/>
                          <a:cs typeface="Helvetica Neue"/>
                        </a:rPr>
                        <a:t>Long-tail share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0.22%</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7.85%</a:t>
                      </a:r>
                    </a:p>
                  </a:txBody>
                  <a:tcPr marL="91440" marR="91440" marT="45720" marB="45720">
                    <a:lnR w="9525">
                      <a:solidFill>
                        <a:srgbClr val="CAD5CC"/>
                      </a:solidFill>
                      <a:prstDash val="solid"/>
                    </a:lnR>
                    <a:lnB w="9525">
                      <a:solidFill>
                        <a:srgbClr val="CAD5CC"/>
                      </a:solidFill>
                      <a:prstDash val="solid"/>
                    </a:lnB>
                    <a:solidFill>
                      <a:srgbClr val="FFFFFF"/>
                    </a:solidFill>
                  </a:tcPr>
                </a:tc>
              </a:tr>
              <a:tr h="638175">
                <a:tc>
                  <a:txBody>
                    <a:bodyPr/>
                    <a:lstStyle/>
                    <a:p>
                      <a:r>
                        <a:rPr sz="1875" b="0">
                          <a:solidFill>
                            <a:srgbClr val="173C31"/>
                          </a:solidFill>
                          <a:latin typeface="Helvetica Neue"/>
                          <a:ea typeface="Helvetica Neue"/>
                          <a:cs typeface="Helvetica Neue"/>
                        </a:rPr>
                        <a:t>Catalogue coverage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6.68%</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6.62%</a:t>
                      </a:r>
                    </a:p>
                  </a:txBody>
                  <a:tcPr marL="91440" marR="91440" marT="45720" marB="45720">
                    <a:lnR w="9525">
                      <a:solidFill>
                        <a:srgbClr val="CAD5CC"/>
                      </a:solidFill>
                      <a:prstDash val="solid"/>
                    </a:lnR>
                    <a:lnB w="9525">
                      <a:solidFill>
                        <a:srgbClr val="CAD5CC"/>
                      </a:solidFill>
                      <a:prstDash val="solid"/>
                    </a:lnB>
                    <a:solidFill>
                      <a:srgbClr val="E9EFE9"/>
                    </a:solidFill>
                  </a:tcPr>
                </a:tc>
              </a:tr>
            </a:tbl>
          </a:graphicData>
        </a:graphic>
      </p:graphicFrame>
      <p:sp>
        <p:nvSpPr>
          <p:cNvPr id="3" name="">
            <a:extLst xmlns:a="http://schemas.openxmlformats.org/drawingml/2006/main">
              <a:ext uri="{FF2B5EF4-FFF2-40B4-BE49-F238E27FC236}">
                <a16:creationId xmlns:a16="http://schemas.microsoft.com/office/drawing/2014/main" id="{B4C57A49-A2BC-4AD2-AE06-0CC17CB06ED5}"/>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Observed movie ratings, 93 eligible test users. This separate pilot does not establish cross-domain preference improvement.</a:t>
            </a:r>
          </a:p>
        </p:txBody>
      </p:sp>
    </p:spTree>
    <p:extLst>
      <p:ext uri="{BB962C8B-B14F-4D97-AF65-F5344CB8AC3E}">
        <p14:creationId xmlns:p14="http://schemas.microsoft.com/office/powerpoint/2010/main" val="913574944"/>
      </p:ext>
    </p:extLst>
  </p:cSld>
</p:sld>
</file>

<file path=ppt/slides/slide11.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1AFC30A-C772-4538-A52B-83A20444CDD5}"/>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The implemented contribution and the remaining test</a:t>
            </a:r>
          </a:p>
        </p:txBody>
      </p:sp>
      <p:sp>
        <p:nvSpPr>
          <p:cNvPr id="2" name="">
            <a:extLst xmlns:a="http://schemas.openxmlformats.org/drawingml/2006/main">
              <a:ext uri="{FF2B5EF4-FFF2-40B4-BE49-F238E27FC236}">
                <a16:creationId xmlns:a16="http://schemas.microsoft.com/office/drawing/2014/main" id="{05015D2A-B07D-4DDE-B55B-1B0A3BFAC077}"/>
              </a:ext>
            </a:extLst>
          </p:cNvPr>
          <p:cNvSpPr>
            <a:spLocks xmlns:a="http://schemas.openxmlformats.org/drawingml/2006/main" noGrp="1"/>
          </p:cNvSpPr>
          <p:nvPr/>
        </p:nvSpPr>
        <p:spPr>
          <a:xfrm xmlns:a="http://schemas.openxmlformats.org/drawingml/2006/main">
            <a:off x="666750" y="1733550"/>
            <a:ext cx="10572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C31"/>
                </a:solidFill>
                <a:latin typeface="Helvetica Neue"/>
                <a:ea typeface="Helvetica Neue"/>
                <a:cs typeface="Helvetica Neue"/>
              </a:defRPr>
            </a:defPPr>
          </a:lstStyle>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A working recommendation loop with source evidence</a:t>
            </a:r>
          </a:p>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A text index covering 50,066 narrative records</a:t>
            </a:r>
          </a:p>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A trained tiny language-model experiment</a:t>
            </a:r>
          </a:p>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Reproducible comparisons and inspectable failures</a:t>
            </a:r>
          </a:p>
        </p:txBody>
      </p:sp>
      <p:sp>
        <p:nvSpPr>
          <p:cNvPr id="3" name="">
            <a:extLst xmlns:a="http://schemas.openxmlformats.org/drawingml/2006/main">
              <a:ext uri="{FF2B5EF4-FFF2-40B4-BE49-F238E27FC236}">
                <a16:creationId xmlns:a16="http://schemas.microsoft.com/office/drawing/2014/main" id="{F3174F9E-7BDA-4BB2-8F24-AA0C89ED69CC}"/>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Next empirical question: do better representations and evidence acquisition improve independently judged usefulness across the three domains?</a:t>
            </a:r>
          </a:p>
        </p:txBody>
      </p:sp>
    </p:spTree>
    <p:extLst>
      <p:ext uri="{BB962C8B-B14F-4D97-AF65-F5344CB8AC3E}">
        <p14:creationId xmlns:p14="http://schemas.microsoft.com/office/powerpoint/2010/main" val="1162189420"/>
      </p:ext>
    </p:extLst>
  </p:cSld>
</p:sld>
</file>

<file path=ppt/slides/slide12.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4F1F0D8-051D-4E31-8616-EF3ADB53E56E}"/>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Attribution and scope</a:t>
            </a:r>
          </a:p>
        </p:txBody>
      </p:sp>
      <p:sp>
        <p:nvSpPr>
          <p:cNvPr id="2" name="">
            <a:extLst xmlns:a="http://schemas.openxmlformats.org/drawingml/2006/main">
              <a:ext uri="{FF2B5EF4-FFF2-40B4-BE49-F238E27FC236}">
                <a16:creationId xmlns:a16="http://schemas.microsoft.com/office/drawing/2014/main" id="{7376A55F-2321-4CB9-BEFC-C672798CC836}"/>
              </a:ext>
            </a:extLst>
          </p:cNvPr>
          <p:cNvSpPr>
            <a:spLocks xmlns:a="http://schemas.openxmlformats.org/drawingml/2006/main" noGrp="1"/>
          </p:cNvSpPr>
          <p:nvPr/>
        </p:nvSpPr>
        <p:spPr>
          <a:xfrm xmlns:a="http://schemas.openxmlformats.org/drawingml/2006/main">
            <a:off x="666750" y="1752600"/>
            <a:ext cx="1057275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C31"/>
                </a:solidFill>
                <a:latin typeface="Helvetica Neue"/>
                <a:ea typeface="Helvetica Neue"/>
                <a:cs typeface="Helvetica Neue"/>
              </a:defRPr>
            </a:defPPr>
          </a:lstStyle>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Evidence-based cross-domain transfer has close prior art in EviSnap.</a:t>
            </a:r>
          </a:p>
          <a:p xmlns:a="http://schemas.openxmlformats.org/drawingml/2006/main">
            <a:r>
              <a:t/>
            </a:r>
          </a:p>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Preference elicitation and minimax regret are established methods.</a:t>
            </a:r>
          </a:p>
          <a:p xmlns:a="http://schemas.openxmlformats.org/drawingml/2006/main">
            <a:r>
              <a:t/>
            </a:r>
          </a:p>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Our contribution is an integrated prototype and bounded experiments. Algorithmic novelty and independently measured preference gains remain open.</a:t>
            </a:r>
          </a:p>
        </p:txBody>
      </p:sp>
      <p:sp>
        <p:nvSpPr>
          <p:cNvPr id="3" name="">
            <a:extLst xmlns:a="http://schemas.openxmlformats.org/drawingml/2006/main">
              <a:ext uri="{FF2B5EF4-FFF2-40B4-BE49-F238E27FC236}">
                <a16:creationId xmlns:a16="http://schemas.microsoft.com/office/drawing/2014/main" id="{9F7CBA4E-AFD0-4059-AAAA-B4B6CE1E2E42}"/>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Source links and full experimental limits are recorded in speaker notes and the project’s research documents.</a:t>
            </a:r>
          </a:p>
        </p:txBody>
      </p:sp>
    </p:spTree>
    <p:extLst>
      <p:ext uri="{BB962C8B-B14F-4D97-AF65-F5344CB8AC3E}">
        <p14:creationId xmlns:p14="http://schemas.microsoft.com/office/powerpoint/2010/main" val="18411034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2026-10-14T09:10:33.6580000Z</dcterms:created>
  <dcterms:modified xsi:type="dcterms:W3CDTF">2026-10-14T09:10:33.6580000Z</dcterms:modified>
</coreProperties>
</file>