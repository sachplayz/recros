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8c1452f0e6745aa" /><Relationship Type="http://schemas.openxmlformats.org/officeDocument/2006/relationships/extended-properties" Target="/docProps/app.xml" Id="R89aca64f094845d3" /><Relationship Type="http://schemas.openxmlformats.org/officeDocument/2006/relationships/officeDocument" Target="/ppt/presentation.xml" Id="Rc156859558134741" /></Relationships>
</file>

<file path=ppt/presentation.xml><?xml version="1.0" encoding="utf-8"?>
<p:presentation xmlns:p="http://schemas.openxmlformats.org/presentationml/2006/main">
  <p:sldMasterIdLst>
    <p:sldMasterId xmlns:r="http://schemas.openxmlformats.org/officeDocument/2006/relationships" id="2147483648" r:id="R13a43f02efb34ffd"/>
  </p:sldMasterIdLst>
  <p:notesMasterIdLst>
    <p:notesMasterId xmlns:r="http://schemas.openxmlformats.org/officeDocument/2006/relationships" r:id="R87e1f222ef954f2d"/>
  </p:notesMasterIdLst>
  <p:sldIdLst>
    <p:sldId xmlns:r="http://schemas.openxmlformats.org/officeDocument/2006/relationships" id="256" r:id="Rced2b3aefe7a488e"/>
    <p:sldId xmlns:r="http://schemas.openxmlformats.org/officeDocument/2006/relationships" id="257" r:id="Rfefefa1e296349c3"/>
    <p:sldId xmlns:r="http://schemas.openxmlformats.org/officeDocument/2006/relationships" id="258" r:id="R2c383db976384d35"/>
    <p:sldId xmlns:r="http://schemas.openxmlformats.org/officeDocument/2006/relationships" id="259" r:id="R80721196abc74562"/>
    <p:sldId xmlns:r="http://schemas.openxmlformats.org/officeDocument/2006/relationships" id="260" r:id="R5a3c766742d34baa"/>
    <p:sldId xmlns:r="http://schemas.openxmlformats.org/officeDocument/2006/relationships" id="261" r:id="R0c1eb120569443c4"/>
    <p:sldId xmlns:r="http://schemas.openxmlformats.org/officeDocument/2006/relationships" id="262" r:id="R1b75b5d3b03c451d"/>
    <p:sldId xmlns:r="http://schemas.openxmlformats.org/officeDocument/2006/relationships" id="263" r:id="R602f78390f2e47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a55d439945b4f8d" /><Relationship Type="http://schemas.openxmlformats.org/officeDocument/2006/relationships/slideMaster" Target="/ppt/slideMasters/slideMaster1.xml" Id="R13a43f02efb34ffd" /><Relationship Type="http://schemas.openxmlformats.org/officeDocument/2006/relationships/notesMaster" Target="/ppt/notesMasters/notesMaster1.xml" Id="R87e1f222ef954f2d" /><Relationship Type="http://schemas.openxmlformats.org/officeDocument/2006/relationships/presProps" Target="/ppt/presProps.xml" Id="Rba378137067045a3" /><Relationship Type="http://schemas.openxmlformats.org/officeDocument/2006/relationships/tableStyles" Target="/ppt/tableStyles.xml" Id="R1ec1996a45494ba7" /><Relationship Type="http://schemas.openxmlformats.org/officeDocument/2006/relationships/slide" Target="/ppt/slides/slide1.xml" Id="Rced2b3aefe7a488e" /><Relationship Type="http://schemas.openxmlformats.org/officeDocument/2006/relationships/slide" Target="/ppt/slides/slide2.xml" Id="Rfefefa1e296349c3" /><Relationship Type="http://schemas.openxmlformats.org/officeDocument/2006/relationships/slide" Target="/ppt/slides/slide3.xml" Id="R2c383db976384d35" /><Relationship Type="http://schemas.openxmlformats.org/officeDocument/2006/relationships/slide" Target="/ppt/slides/slide4.xml" Id="R80721196abc74562" /><Relationship Type="http://schemas.openxmlformats.org/officeDocument/2006/relationships/slide" Target="/ppt/slides/slide5.xml" Id="R5a3c766742d34baa" /><Relationship Type="http://schemas.openxmlformats.org/officeDocument/2006/relationships/slide" Target="/ppt/slides/slide6.xml" Id="R0c1eb120569443c4" /><Relationship Type="http://schemas.openxmlformats.org/officeDocument/2006/relationships/slide" Target="/ppt/slides/slide7.xml" Id="R1b75b5d3b03c451d" /><Relationship Type="http://schemas.openxmlformats.org/officeDocument/2006/relationships/slide" Target="/ppt/slides/slide8.xml" Id="R602f78390f2e47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fb747842f8429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a21bdeaaef847b5" /><Relationship Type="http://schemas.openxmlformats.org/officeDocument/2006/relationships/notesMaster" Target="/ppt/notesMasters/notesMaster1.xml" Id="R7a82f5f158754a17" /></Relationships>
</file>

<file path=ppt/notesSlides/_rels/notesSlide2.xml.rels>&#65279;<?xml version="1.0" encoding="utf-8"?><Relationships xmlns="http://schemas.openxmlformats.org/package/2006/relationships"><Relationship Type="http://schemas.openxmlformats.org/officeDocument/2006/relationships/slide" Target="/ppt/slides/slide2.xml" Id="R82d9d4f405304b51" /><Relationship Type="http://schemas.openxmlformats.org/officeDocument/2006/relationships/notesMaster" Target="/ppt/notesMasters/notesMaster1.xml" Id="R65f1c5a7590f4cf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b86000f31a402f" /><Relationship Type="http://schemas.openxmlformats.org/officeDocument/2006/relationships/notesMaster" Target="/ppt/notesMasters/notesMaster1.xml" Id="R3f3011c30e014c02" /></Relationships>
</file>

<file path=ppt/notesSlides/_rels/notesSlide4.xml.rels>&#65279;<?xml version="1.0" encoding="utf-8"?><Relationships xmlns="http://schemas.openxmlformats.org/package/2006/relationships"><Relationship Type="http://schemas.openxmlformats.org/officeDocument/2006/relationships/slide" Target="/ppt/slides/slide4.xml" Id="Re0f86710a72c4b34" /><Relationship Type="http://schemas.openxmlformats.org/officeDocument/2006/relationships/notesMaster" Target="/ppt/notesMasters/notesMaster1.xml" Id="R58cd36f0d6ff4e8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091a1421914588" /><Relationship Type="http://schemas.openxmlformats.org/officeDocument/2006/relationships/notesMaster" Target="/ppt/notesMasters/notesMaster1.xml" Id="Rb7623d8f122542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61e1480b7dcc4217" /><Relationship Type="http://schemas.openxmlformats.org/officeDocument/2006/relationships/notesMaster" Target="/ppt/notesMasters/notesMaster1.xml" Id="Radd35d7a9ed74d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3d97c6e854f464a" /><Relationship Type="http://schemas.openxmlformats.org/officeDocument/2006/relationships/notesMaster" Target="/ppt/notesMasters/notesMaster1.xml" Id="R1094a6cbc0d744c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64e3c02b8c740ad" /><Relationship Type="http://schemas.openxmlformats.org/officeDocument/2006/relationships/notesMaster" Target="/ppt/notesMasters/notesMaster1.xml" Id="Rec0c90c4f5814e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focuses on the new project-derived result, rather than the entire recovered application. It is a candidate research contribution: an exact tractable formulation and a conservative structural-fault extension. Worldwide priority and human usefulness are not established. Full derivation and attribution: docs/milestone2/hierarchy/DERIVATION.md.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Analytical construction. Prefer a broad theme with weight +1 and avoid its subtype with weight -1. Candidate A has both labels unknown; B has both labels zero. Subtype implies parent. Coherent A has score at least zero, so recommending A has worst-case regret zero. A flat label relaxation admits parent=0, subtype=1, score=-1, giving phantom regret 1. With k independent copies, the unnormalized error is k; L1-normalized error is 0.5. This is a mathematical construction, not a real user rating or evidence about a named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Proposition 1 in DERIVATION.md. Let a be challenger labels and b chosen labels. Shared independent signed weight interval [L,U]. max_w w(a-b)=U a(1-b)-L(1-a)b. With y=1-b, the term is L a+L y+(U-L)ay-L. Since U-L is nonnegative, a positively weighted auxiliary z with z implying a and y represents the product in a maximum-weight closed set. Copy challenger implications; reverse complemented chosen implications. Force known values. One s-t min cut yields the exact gap and witness. Graph: 3m+2 nodes and O(m+e) arcs. At most N(N-1) cuts for N distinct finite candidates. Same-item gap is zero. Constraints: correct observed facts, valid implication-only hierarchy, independent item completions, additive utility and interval-box preferences. The original reduction is based on established Picard maximum closure and Kolmogorov-Zabih graph representability.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Frozen protocol SHA-256 075d8e513dc8733abf1407153a44e083099aba06332d5bd2dae547a5e0c4a090. Public LTO 2026.04 release, 2990 themes, 1765 mapped films and 23 novels. 46 sources: all 23 novels and 23 seeded films. Six conditions per source: masks 25/50/75 percent and signed preference widths 0/1. Eight fixed target candidates, 195 distinct retrieved targets, 12-22 active facets per request. 15456 pairwise cuts. The common-weight flat baseline already propagates known parents and false-parent descendant negatives. Mean bound on the same exact-selected item is 0.2490942 exact, 0.3179348 flat, 0.4009662 independent utility intervals. The latter is an ablation, not a strong recommendation baseline. At normalized threshold 0.20, exact certifies 101 states and flat 91; at zero both certify 23. The bound reduction is not an accuracy gain. Request weights are scripted; absent active tags are zero only in this closed-world structural benchmark; states reuse sources and candidates.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Twelve separately frozen tree problems: 32/128/512/2048 facets, three seeded cases each. Same input to native SciPy integer max flow, Python NetworkX flow, and general HiGHS MILP with full binary conjunction hull. All 12 objectives agree; no MILP timeout. At 2048 facets median total time is 8.817 ms native, 34.311 ms MILP and 108.952 ms Python flow. About 3.89 times lower native median time than MILP in these three cases, not a universal speedup. One discarded warm-up per solver; construction included. The initial Python implementation was slower than MILP at large sizes. Native implementation added after inspecting that result, with the same frozen inputs and initial run preserved. Independent exhaustive signed/partial-label validation: 240 small problems; structural-fault bounds: 90 small budgeted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Proposition 3. Let v count implication violations across the chosen/challenger pair. If actual v is at most K, for any nonnegative penalty lambda the true budgeted gap is at most lambda K+max(gap-lambda v). Replace hard ontology-arc capacities with lambda to compute that inner maximum by min cut. Keep observed facts hard; do not propagate them through potentially faulty edges. Minimize over the implementation finite penalty grid to obtain a conservative bound. This is not generally exact for the budgeted problem or the optimal continuous dual. The penalized witness can exceed K; only an attaining feasible witness is labeled attained. In the toy example the hard hierarchy gap is zero; a true completion parent=0, subtype=1 violates one relation and gives actual regret one. Budget K=1 raises the bound to one. It does not protect against wrong observed facts that obey the hierarchy or an inadequate preference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Candidate contribution: explicit tractable joint label/preference-uncertainty formulation; phantom-regret construction; conservative structural-fault bound; exact code, witnesses and reproducible film/novel structural study. Prior art: Picard 1976 DOI 10.1287/mnsc.22.11.1268; Kolmogorov and Zabih 2004 https://www.cs.cornell.edu/~rdz/Papers/KZ-PAMI04.pdf; Boutilier, Regan and Viappiani ICML 2009 https://icml.cc/2009/papers/427.pdf; Regan and Boutilier RecSys 2009 https://www.kevinregan.com/files/recsys09.pdf; LTO arXiv:1905.00522 and Zenodo DOI 10.5281/zenodo.19367236; CATN arXiv:2005.10549. Targeted searches did not establish an identical formulation but cannot prove worldwide originality. Exact minimax decision optimality within the model is mathematical, not independent evidence of preference accuracy. The tiny LM has not been retrained and its previous weak human reading outcome is unchanged. This experiment isolates the decision layer.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http://127.0.0.1:8008/hierarchy. First show the four parent/subtype possibilities. Flat uncertainty uses the invalid negative-score world. Toggle one structural fault and explain why the zero guarantee is no longer justified. Then show a post hoc real film/book illustration, compare the same candidate coherent/flat bounds and inspect the flat witness violating a named hierarchy edge. These are artificial masks and scripted requests, not judgments from real users. The automatic 5+5+5 product remains /explore; the earlier source-reading model experiment remains /evidence. No new hosted model calls, downloads or paid compute were required for this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b36c823d44d41d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507ad758d0b487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84071018cb84bf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544cb1489d9484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ee9fc73d9f2449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8529c4383464d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1E90D4-855D-486E-8F84-0FF5C130016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D1040B8-F105-4050-8529-31491F56FE2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5F245BD-BC4C-42D4-9326-23D5AF669E1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CEF4F9-A378-4682-BA1F-9DE2A5333E7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9BBDF98-7DBB-4C5C-BF7E-CA66232256F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6DDB354-EA86-46E9-A345-3A361DE417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7FAF8D-5AF0-4001-A8BB-B7F23864721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0A59DC4-E672-48C3-9587-54F9C43C71B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C13D3F-8203-4231-A1D3-788CE13356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16A306C-8F19-4B32-8323-FD9F855E003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c3f3c397d14ecb" /><Relationship Type="http://schemas.openxmlformats.org/officeDocument/2006/relationships/slideLayout" Target="/ppt/slideLayouts/slideLayout1.xml" Id="Rf755d42174804f9f" /><Relationship Type="http://schemas.openxmlformats.org/officeDocument/2006/relationships/slideLayout" Target="/ppt/slideLayouts/slideLayout2.xml" Id="R02d0dc60d7e84b84" /><Relationship Type="http://schemas.openxmlformats.org/officeDocument/2006/relationships/slideLayout" Target="/ppt/slideLayouts/slideLayout3.xml" Id="Rcd862b2650de42d0" /><Relationship Type="http://schemas.openxmlformats.org/officeDocument/2006/relationships/slideLayout" Target="/ppt/slideLayouts/slideLayout4.xml" Id="R142a9b136fb24975" /><Relationship Type="http://schemas.openxmlformats.org/officeDocument/2006/relationships/slideLayout" Target="/ppt/slideLayouts/slideLayout5.xml" Id="R9df6f08f2e4a4463" /><Relationship Type="http://schemas.openxmlformats.org/officeDocument/2006/relationships/slideLayout" Target="/ppt/slideLayouts/slideLayout6.xml" Id="Rdd61863961db448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55d42174804f9f"/>
    <p:sldLayoutId xmlns:r="http://schemas.openxmlformats.org/officeDocument/2006/relationships" id="2147483650" r:id="R02d0dc60d7e84b84"/>
    <p:sldLayoutId xmlns:r="http://schemas.openxmlformats.org/officeDocument/2006/relationships" id="2147483651" r:id="Rcd862b2650de42d0"/>
    <p:sldLayoutId xmlns:r="http://schemas.openxmlformats.org/officeDocument/2006/relationships" id="2147483652" r:id="R142a9b136fb24975"/>
    <p:sldLayoutId xmlns:r="http://schemas.openxmlformats.org/officeDocument/2006/relationships" id="2147483653" r:id="R9df6f08f2e4a4463"/>
    <p:sldLayoutId xmlns:r="http://schemas.openxmlformats.org/officeDocument/2006/relationships" id="2147483654" r:id="Rdd61863961db448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08549bd566f4aed" /><Relationship Type="http://schemas.openxmlformats.org/officeDocument/2006/relationships/notesSlide" Target="/ppt/notesSlides/notesSlide1.xml" Id="R11224f26db5f443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31b1582e6c54bfe" /><Relationship Type="http://schemas.openxmlformats.org/officeDocument/2006/relationships/notesSlide" Target="/ppt/notesSlides/notesSlide2.xml" Id="R2f6ae1c7dd3e459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302576c2111490e" /><Relationship Type="http://schemas.openxmlformats.org/officeDocument/2006/relationships/notesSlide" Target="/ppt/notesSlides/notesSlide3.xml" Id="R2101d8cd642b43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1a7e47224384d80" /><Relationship Type="http://schemas.openxmlformats.org/officeDocument/2006/relationships/chart" Target="/ppt/slides/charts/chart1.xml" Id="Ra88a3be911914b00" /><Relationship Type="http://schemas.openxmlformats.org/officeDocument/2006/relationships/notesSlide" Target="/ppt/notesSlides/notesSlide4.xml" Id="R05369c96980d48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b85dfd421384de1" /><Relationship Type="http://schemas.openxmlformats.org/officeDocument/2006/relationships/chart" Target="/ppt/slides/charts/chart2.xml" Id="R4086bfc7f3e447fa" /><Relationship Type="http://schemas.openxmlformats.org/officeDocument/2006/relationships/notesSlide" Target="/ppt/notesSlides/notesSlide5.xml" Id="R6f06ad71ada44b6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9f0c1fb8abb43c6" /><Relationship Type="http://schemas.openxmlformats.org/officeDocument/2006/relationships/notesSlide" Target="/ppt/notesSlides/notesSlide6.xml" Id="Red5f65060c29443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9c1deb0db084905" /><Relationship Type="http://schemas.openxmlformats.org/officeDocument/2006/relationships/notesSlide" Target="/ppt/notesSlides/notesSlide7.xml" Id="R74662109990c40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8cba27450544e05" /><Relationship Type="http://schemas.openxmlformats.org/officeDocument/2006/relationships/notesSlide" Target="/ppt/notesSlides/notesSlide8.xml" Id="Rea285ed13d9043a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Measured value</c:v>
          </c:tx>
          <c:spPr>
            <a:solidFill xmlns:a="http://schemas.openxmlformats.org/drawingml/2006/main">
              <a:srgbClr val="205941"/>
            </a:solidFill>
          </c:spPr>
          <c:invertIfNegative val="0"/>
          <c:cat>
            <c:strRef>
              <c:f>'Chart Data'!$A$2:$A$4</c:f>
              <c:strCache>
                <c:ptCount val="3"/>
                <c:pt idx="0">
                  <c:v>Coherent joint bound</c:v>
                </c:pt>
                <c:pt idx="1">
                  <c:v>Flat + propagation</c:v>
                </c:pt>
                <c:pt idx="2">
                  <c:v>Independent intervals</c:v>
                </c:pt>
              </c:strCache>
            </c:strRef>
          </c:cat>
          <c:val>
            <c:numRef>
              <c:f>'Chart Data'!$B$2:$B$4</c:f>
              <c:numCache>
                <c:formatCode>0.000</c:formatCode>
                <c:ptCount val="3"/>
                <c:pt idx="0">
                  <c:v>0.249094</c:v>
                </c:pt>
                <c:pt idx="1">
                  <c:v>0.317935</c:v>
                </c:pt>
                <c:pt idx="2">
                  <c:v>0.400966</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C31"/>
                </a:solidFill>
                <a:latin typeface="Helvetica Neue"/>
                <a:ea typeface="Helvetica Neue"/>
                <a:cs typeface="Helvetica Neue"/>
              </a:defRPr>
            </a:pPr>
          </a:p>
        </c:txPr>
        <c:crossAx val="48672768"/>
      </c:catAx>
      <c:valAx>
        <c:axId val="48672768"/>
        <c:scaling>
          <c:orientation val="minMax"/>
          <c:max val="1"/>
          <c:min val="0"/>
        </c:scaling>
        <c:delete val="0"/>
        <c:axPos val="l"/>
        <c:majorGridlines>
          <c:spPr>
            <a:ln xmlns:a="http://schemas.openxmlformats.org/drawingml/2006/main" w="9525">
              <a:solidFill>
                <a:srgbClr val="CAD5CC"/>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486257"/>
                </a:solidFill>
                <a:latin typeface="Helvetica Neue"/>
                <a:ea typeface="Helvetica Neue"/>
                <a:cs typeface="Helvetica Neue"/>
              </a:defRPr>
            </a:pPr>
          </a:p>
        </c:txPr>
        <c:crossAx val="48650112"/>
        <c:crossBetween val="between"/>
        <c:majorUnit val="0.2"/>
      </c:valAx>
      <c:spPr>
        <a:solidFill xmlns:a="http://schemas.openxmlformats.org/drawingml/2006/main">
          <a:srgbClr val="F6F7F3"/>
        </a:solidFill>
      </c:spPr>
    </c:plotArea>
    <c:plotVisOnly val="1"/>
  </c:chart>
  <c:spPr>
    <a:solidFill xmlns:a="http://schemas.openxmlformats.org/drawingml/2006/main">
      <a:srgbClr val="F6F7F3"/>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Measured value</c:v>
          </c:tx>
          <c:spPr>
            <a:solidFill xmlns:a="http://schemas.openxmlformats.org/drawingml/2006/main">
              <a:srgbClr val="205941"/>
            </a:solidFill>
          </c:spPr>
          <c:invertIfNegative val="0"/>
          <c:cat>
            <c:strRef>
              <c:f>'Chart Data'!$A$2:$A$4</c:f>
              <c:strCache>
                <c:ptCount val="3"/>
                <c:pt idx="0">
                  <c:v>Native integer cut</c:v>
                </c:pt>
                <c:pt idx="1">
                  <c:v>General MILP</c:v>
                </c:pt>
                <c:pt idx="2">
                  <c:v>Python graph cut</c:v>
                </c:pt>
              </c:strCache>
            </c:strRef>
          </c:cat>
          <c:val>
            <c:numRef>
              <c:f>'Chart Data'!$B$2:$B$4</c:f>
              <c:numCache>
                <c:formatCode>0.0</c:formatCode>
                <c:ptCount val="3"/>
                <c:pt idx="0">
                  <c:v>8.817084</c:v>
                </c:pt>
                <c:pt idx="1">
                  <c:v>34.310709</c:v>
                </c:pt>
                <c:pt idx="2">
                  <c:v>108.952125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800">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73C31"/>
                </a:solidFill>
                <a:latin typeface="Helvetica Neue"/>
                <a:ea typeface="Helvetica Neue"/>
                <a:cs typeface="Helvetica Neue"/>
              </a:defRPr>
            </a:pPr>
          </a:p>
        </c:txPr>
        <c:crossAx val="48672768"/>
      </c:catAx>
      <c:valAx>
        <c:axId val="48672768"/>
        <c:scaling>
          <c:orientation val="minMax"/>
          <c:max val="125"/>
          <c:min val="0"/>
        </c:scaling>
        <c:delete val="0"/>
        <c:axPos val="l"/>
        <c:majorGridlines>
          <c:spPr>
            <a:ln xmlns:a="http://schemas.openxmlformats.org/drawingml/2006/main" w="9525">
              <a:solidFill>
                <a:srgbClr val="CAD5CC"/>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486257"/>
                </a:solidFill>
                <a:latin typeface="Helvetica Neue"/>
                <a:ea typeface="Helvetica Neue"/>
                <a:cs typeface="Helvetica Neue"/>
              </a:defRPr>
            </a:pPr>
          </a:p>
        </c:txPr>
        <c:crossAx val="48650112"/>
        <c:crossBetween val="between"/>
        <c:majorUnit val="25"/>
      </c:valAx>
      <c:spPr>
        <a:solidFill xmlns:a="http://schemas.openxmlformats.org/drawingml/2006/main">
          <a:srgbClr val="F6F7F3"/>
        </a:solidFill>
      </c:spPr>
    </c:plotArea>
    <c:plotVisOnly val="1"/>
  </c:chart>
  <c:spPr>
    <a:solidFill xmlns:a="http://schemas.openxmlformats.org/drawingml/2006/main">
      <a:srgbClr val="F6F7F3"/>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05941"/>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8047FB8-0FEE-4882-B3B3-1F0B7E9F3636}"/>
              </a:ext>
            </a:extLst>
          </p:cNvPr>
          <p:cNvSpPr>
            <a:spLocks xmlns:a="http://schemas.openxmlformats.org/drawingml/2006/main" noGrp="1"/>
          </p:cNvSpPr>
          <p:nvPr/>
        </p:nvSpPr>
        <p:spPr>
          <a:xfrm xmlns:a="http://schemas.openxmlformats.org/drawingml/2006/main">
            <a:off x="666750" y="7429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FFFFFF"/>
                </a:solidFill>
                <a:latin typeface="Helvetica Neue"/>
                <a:ea typeface="Helvetica Neue"/>
                <a:cs typeface="Helvetica Neue"/>
              </a:defRPr>
            </a:defPPr>
          </a:lstStyle>
          <a:p xmlns:a="http://schemas.openxmlformats.org/drawingml/2006/main">
            <a:pPr>
              <a:defRPr sz="5400" b="1">
                <a:solidFill>
                  <a:srgbClr val="FFFFFF"/>
                </a:solidFill>
                <a:latin typeface="Helvetica Neue"/>
                <a:ea typeface="Helvetica Neue"/>
                <a:cs typeface="Helvetica Neue"/>
              </a:defRPr>
            </a:pPr>
            <a:r>
              <a:rPr sz="5400" b="1">
                <a:solidFill>
                  <a:srgbClr val="FFFFFF"/>
                </a:solidFill>
                <a:latin typeface="Helvetica Neue"/>
                <a:ea typeface="Helvetica Neue"/>
                <a:cs typeface="Helvetica Neue"/>
              </a:rPr>
              <a:t>Recros</a:t>
            </a:r>
          </a:p>
        </p:txBody>
      </p:sp>
      <p:sp>
        <p:nvSpPr>
          <p:cNvPr id="2" name="">
            <a:extLst xmlns:a="http://schemas.openxmlformats.org/drawingml/2006/main">
              <a:ext uri="{FF2B5EF4-FFF2-40B4-BE49-F238E27FC236}">
                <a16:creationId xmlns:a16="http://schemas.microsoft.com/office/drawing/2014/main" id="{A0559B01-86DC-4A74-B134-4A0DD4A5CBDA}"/>
              </a:ext>
            </a:extLst>
          </p:cNvPr>
          <p:cNvSpPr>
            <a:spLocks xmlns:a="http://schemas.openxmlformats.org/drawingml/2006/main" noGrp="1"/>
          </p:cNvSpPr>
          <p:nvPr/>
        </p:nvSpPr>
        <p:spPr>
          <a:xfrm xmlns:a="http://schemas.openxmlformats.org/drawingml/2006/main">
            <a:off x="704850" y="2247900"/>
            <a:ext cx="10572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FFFFFF"/>
                </a:solidFill>
                <a:latin typeface="Helvetica Neue"/>
                <a:ea typeface="Helvetica Neue"/>
                <a:cs typeface="Helvetica Neue"/>
              </a:defRPr>
            </a:defPPr>
          </a:lstStyle>
          <a:p xmlns:a="http://schemas.openxmlformats.org/drawingml/2006/main">
            <a:pPr>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A result about</a:t>
            </a:r>
          </a:p>
          <a:p xmlns:a="http://schemas.openxmlformats.org/drawingml/2006/main">
            <a:pPr>
              <a:defRPr sz="4650" b="1">
                <a:solidFill>
                  <a:srgbClr val="FFFFFF"/>
                </a:solidFill>
                <a:latin typeface="Helvetica Neue"/>
                <a:ea typeface="Helvetica Neue"/>
                <a:cs typeface="Helvetica Neue"/>
              </a:defRPr>
            </a:pPr>
            <a:r>
              <a:rPr sz="4650" b="1">
                <a:solidFill>
                  <a:srgbClr val="FFFFFF"/>
                </a:solidFill>
                <a:latin typeface="Helvetica Neue"/>
                <a:ea typeface="Helvetica Neue"/>
                <a:cs typeface="Helvetica Neue"/>
              </a:rPr>
              <a:t>missing labels</a:t>
            </a:r>
          </a:p>
        </p:txBody>
      </p:sp>
      <p:sp>
        <p:nvSpPr>
          <p:cNvPr id="3" name="">
            <a:extLst xmlns:a="http://schemas.openxmlformats.org/drawingml/2006/main">
              <a:ext uri="{FF2B5EF4-FFF2-40B4-BE49-F238E27FC236}">
                <a16:creationId xmlns:a16="http://schemas.microsoft.com/office/drawing/2014/main" id="{2CCC88F4-D34A-4286-A063-AD5047DE252B}"/>
              </a:ext>
            </a:extLst>
          </p:cNvPr>
          <p:cNvSpPr>
            <a:spLocks xmlns:a="http://schemas.openxmlformats.org/drawingml/2006/main" noGrp="1"/>
          </p:cNvSpPr>
          <p:nvPr/>
        </p:nvSpPr>
        <p:spPr>
          <a:xfrm xmlns:a="http://schemas.openxmlformats.org/drawingml/2006/main">
            <a:off x="723900" y="5391150"/>
            <a:ext cx="10477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DDE9DE"/>
                </a:solidFill>
                <a:latin typeface="Helvetica Neue"/>
                <a:ea typeface="Helvetica Neue"/>
                <a:cs typeface="Helvetica Neue"/>
              </a:defRPr>
            </a:defPPr>
          </a:lstStyle>
          <a:p xmlns:a="http://schemas.openxmlformats.org/drawingml/2006/main">
            <a:pPr>
              <a:defRPr sz="1875" b="0">
                <a:solidFill>
                  <a:srgbClr val="DDE9DE"/>
                </a:solidFill>
                <a:latin typeface="Helvetica Neue"/>
                <a:ea typeface="Helvetica Neue"/>
                <a:cs typeface="Helvetica Neue"/>
              </a:defRPr>
            </a:pPr>
            <a:r>
              <a:rPr sz="1875" b="0">
                <a:solidFill>
                  <a:srgbClr val="DDE9DE"/>
                </a:solidFill>
                <a:latin typeface="Helvetica Neue"/>
                <a:ea typeface="Helvetica Neue"/>
                <a:cs typeface="Helvetica Neue"/>
              </a:rPr>
              <a:t>Joint uncertainty on hierarchical facets</a:t>
            </a:r>
          </a:p>
          <a:p xmlns:a="http://schemas.openxmlformats.org/drawingml/2006/main">
            <a:pPr>
              <a:defRPr sz="1875" b="0">
                <a:solidFill>
                  <a:srgbClr val="DDE9DE"/>
                </a:solidFill>
                <a:latin typeface="Helvetica Neue"/>
                <a:ea typeface="Helvetica Neue"/>
                <a:cs typeface="Helvetica Neue"/>
              </a:defRPr>
            </a:pPr>
            <a:r>
              <a:rPr sz="1875" b="0">
                <a:solidFill>
                  <a:srgbClr val="DDE9DE"/>
                </a:solidFill>
                <a:latin typeface="Helvetica Neue"/>
                <a:ea typeface="Helvetica Neue"/>
                <a:cs typeface="Helvetica Neue"/>
              </a:rPr>
              <a:t>Derivation, implementation and structural experiment</a:t>
            </a:r>
          </a:p>
        </p:txBody>
      </p:sp>
    </p:spTree>
    <p:extLst>
      <p:ext uri="{BB962C8B-B14F-4D97-AF65-F5344CB8AC3E}">
        <p14:creationId xmlns:p14="http://schemas.microsoft.com/office/powerpoint/2010/main" val="458844737"/>
      </p:ext>
    </p:extLst>
  </p:cSld>
</p:sld>
</file>

<file path=ppt/slides/slide2.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5A68EB8-2B80-4FDD-907E-EBA481A6C1B0}"/>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Flat labels can invent an impossible world</a:t>
            </a:r>
          </a:p>
        </p:txBody>
      </p:sp>
      <p:graphicFrame>
        <p:nvGraphicFramePr>
          <p:cNvPr id="2" name="">
            <a:extLst xmlns:a="http://schemas.openxmlformats.org/drawingml/2006/main">
              <a:ext uri="{FF2B5EF4-FFF2-40B4-BE49-F238E27FC236}">
                <a16:creationId xmlns:a16="http://schemas.microsoft.com/office/drawing/2014/main" id="{2DEC76D7-75F6-40E6-A314-682338E10A64}"/>
              </a:ext>
            </a:extLst>
          </p:cNvPr>
          <p:cNvGraphicFramePr/>
          <p:nvPr/>
        </p:nvGraphicFramePr>
        <p:xfrm>
          <a:off xmlns:a="http://schemas.openxmlformats.org/drawingml/2006/main" x="647700" y="1714500"/>
          <a:ext xmlns:a="http://schemas.openxmlformats.org/drawingml/2006/main" cx="10896600" cy="2905125"/>
        </p:xfrm>
        <a:graphic xmlns:a="http://schemas.openxmlformats.org/drawingml/2006/main">
          <a:graphicData uri="http://schemas.openxmlformats.org/drawingml/2006/table">
            <a:tbl>
              <a:tblPr/>
              <a:tblGrid>
                <a:gridCol w="2381250"/>
                <a:gridCol w="2381250"/>
                <a:gridCol w="2381250"/>
                <a:gridCol w="3752850"/>
              </a:tblGrid>
              <a:tr h="581025">
                <a:tc>
                  <a:txBody>
                    <a:bodyPr/>
                    <a:lstStyle/>
                    <a:p>
                      <a:r>
                        <a:rPr sz="1875" b="1">
                          <a:solidFill>
                            <a:srgbClr val="FFFFFF"/>
                          </a:solidFill>
                          <a:latin typeface="Helvetica Neue"/>
                          <a:ea typeface="Helvetica Neue"/>
                          <a:cs typeface="Helvetica Neue"/>
                        </a:rPr>
                        <a:t>Parent</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Subtype</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A score</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Allowed?</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581025">
                <a:tc>
                  <a:txBody>
                    <a:bodyPr/>
                    <a:lstStyle/>
                    <a:p>
                      <a:r>
                        <a:rPr sz="1875" b="0">
                          <a:solidFill>
                            <a:srgbClr val="173C31"/>
                          </a:solidFill>
                          <a:latin typeface="Helvetica Neue"/>
                          <a:ea typeface="Helvetica Neue"/>
                          <a:cs typeface="Helvetica Neue"/>
                        </a:rPr>
                        <a:t>0</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Yes</a:t>
                      </a:r>
                    </a:p>
                  </a:txBody>
                  <a:tcPr marL="91440" marR="91440" marT="45720" marB="45720">
                    <a:lnR w="9525">
                      <a:solidFill>
                        <a:srgbClr val="CAD5CC"/>
                      </a:solidFill>
                      <a:prstDash val="solid"/>
                    </a:lnR>
                    <a:lnB w="9525">
                      <a:solidFill>
                        <a:srgbClr val="CAD5CC"/>
                      </a:solidFill>
                      <a:prstDash val="solid"/>
                    </a:lnB>
                    <a:solidFill>
                      <a:srgbClr val="FFFFFF"/>
                    </a:solidFill>
                  </a:tcPr>
                </a:tc>
              </a:tr>
              <a:tr h="581025">
                <a:tc>
                  <a:txBody>
                    <a:bodyPr/>
                    <a:lstStyle/>
                    <a:p>
                      <a:r>
                        <a:rPr sz="1875" b="0">
                          <a:solidFill>
                            <a:srgbClr val="173C31"/>
                          </a:solidFill>
                          <a:latin typeface="Helvetica Neue"/>
                          <a:ea typeface="Helvetica Neue"/>
                          <a:cs typeface="Helvetica Neue"/>
                        </a:rPr>
                        <a:t>1</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0</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+1</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Yes</a:t>
                      </a:r>
                    </a:p>
                  </a:txBody>
                  <a:tcPr marL="91440" marR="91440" marT="45720" marB="45720">
                    <a:lnR w="9525">
                      <a:solidFill>
                        <a:srgbClr val="CAD5CC"/>
                      </a:solidFill>
                      <a:prstDash val="solid"/>
                    </a:lnR>
                    <a:lnB w="9525">
                      <a:solidFill>
                        <a:srgbClr val="CAD5CC"/>
                      </a:solidFill>
                      <a:prstDash val="solid"/>
                    </a:lnB>
                    <a:solidFill>
                      <a:srgbClr val="E9EFE9"/>
                    </a:solidFill>
                  </a:tcPr>
                </a:tc>
              </a:tr>
              <a:tr h="581025">
                <a:tc>
                  <a:txBody>
                    <a:bodyPr/>
                    <a:lstStyle/>
                    <a:p>
                      <a:r>
                        <a:rPr sz="1875" b="0">
                          <a:solidFill>
                            <a:srgbClr val="173C31"/>
                          </a:solidFill>
                          <a:latin typeface="Helvetica Neue"/>
                          <a:ea typeface="Helvetica Neue"/>
                          <a:cs typeface="Helvetica Neue"/>
                        </a:rPr>
                        <a:t>1</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Yes</a:t>
                      </a:r>
                    </a:p>
                  </a:txBody>
                  <a:tcPr marL="91440" marR="91440" marT="45720" marB="45720">
                    <a:lnR w="9525">
                      <a:solidFill>
                        <a:srgbClr val="CAD5CC"/>
                      </a:solidFill>
                      <a:prstDash val="solid"/>
                    </a:lnR>
                    <a:lnB w="9525">
                      <a:solidFill>
                        <a:srgbClr val="CAD5CC"/>
                      </a:solidFill>
                      <a:prstDash val="solid"/>
                    </a:lnB>
                    <a:solidFill>
                      <a:srgbClr val="FFFFFF"/>
                    </a:solidFill>
                  </a:tcPr>
                </a:tc>
              </a:tr>
              <a:tr h="581025">
                <a:tc>
                  <a:txBody>
                    <a:bodyPr/>
                    <a:lstStyle/>
                    <a:p>
                      <a:r>
                        <a:rPr sz="1875" b="0">
                          <a:solidFill>
                            <a:srgbClr val="173C31"/>
                          </a:solidFill>
                          <a:latin typeface="Helvetica Neue"/>
                          <a:ea typeface="Helvetica Neue"/>
                          <a:cs typeface="Helvetica Neue"/>
                        </a:rPr>
                        <a:t>0</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1</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−1</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Violates hierarchy</a:t>
                      </a:r>
                    </a:p>
                  </a:txBody>
                  <a:tcPr marL="91440" marR="91440" marT="45720" marB="45720">
                    <a:lnR w="9525">
                      <a:solidFill>
                        <a:srgbClr val="CAD5CC"/>
                      </a:solidFill>
                      <a:prstDash val="solid"/>
                    </a:lnR>
                    <a:lnB w="9525">
                      <a:solidFill>
                        <a:srgbClr val="CAD5CC"/>
                      </a:solidFill>
                      <a:prstDash val="solid"/>
                    </a:lnB>
                    <a:solidFill>
                      <a:srgbClr val="E9EFE9"/>
                    </a:solidFill>
                  </a:tcPr>
                </a:tc>
              </a:tr>
            </a:tbl>
          </a:graphicData>
        </a:graphic>
      </p:graphicFrame>
      <p:sp>
        <p:nvSpPr>
          <p:cNvPr id="3" name="">
            <a:extLst xmlns:a="http://schemas.openxmlformats.org/drawingml/2006/main">
              <a:ext uri="{FF2B5EF4-FFF2-40B4-BE49-F238E27FC236}">
                <a16:creationId xmlns:a16="http://schemas.microsoft.com/office/drawing/2014/main" id="{D7341BA5-A601-4789-984A-BBF17146D16C}"/>
              </a:ext>
            </a:extLst>
          </p:cNvPr>
          <p:cNvSpPr>
            <a:spLocks xmlns:a="http://schemas.openxmlformats.org/drawingml/2006/main" noGrp="1"/>
          </p:cNvSpPr>
          <p:nvPr/>
        </p:nvSpPr>
        <p:spPr>
          <a:xfrm xmlns:a="http://schemas.openxmlformats.org/drawingml/2006/main">
            <a:off x="685800" y="4876800"/>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73C31"/>
                </a:solidFill>
                <a:latin typeface="Helvetica Neue"/>
                <a:ea typeface="Helvetica Neue"/>
                <a:cs typeface="Helvetica Neue"/>
              </a:defRPr>
            </a:defPPr>
          </a:lstStyle>
          <a:p xmlns:a="http://schemas.openxmlformats.org/drawingml/2006/main">
            <a:pPr>
              <a:defRPr sz="2250" b="0">
                <a:solidFill>
                  <a:srgbClr val="173C31"/>
                </a:solidFill>
                <a:latin typeface="Helvetica Neue"/>
                <a:ea typeface="Helvetica Neue"/>
                <a:cs typeface="Helvetica Neue"/>
              </a:defRPr>
            </a:pPr>
            <a:r>
              <a:rPr sz="2250" b="0">
                <a:solidFill>
                  <a:srgbClr val="173C31"/>
                </a:solidFill>
                <a:latin typeface="Helvetica Neue"/>
                <a:ea typeface="Helvetica Neue"/>
                <a:cs typeface="Helvetica Neue"/>
              </a:rPr>
              <a:t>The unknown work A is always at least as good as neutral B under the coherent matching model.</a:t>
            </a:r>
          </a:p>
        </p:txBody>
      </p:sp>
      <p:sp>
        <p:nvSpPr>
          <p:cNvPr id="4" name="">
            <a:extLst xmlns:a="http://schemas.openxmlformats.org/drawingml/2006/main">
              <a:ext uri="{FF2B5EF4-FFF2-40B4-BE49-F238E27FC236}">
                <a16:creationId xmlns:a16="http://schemas.microsoft.com/office/drawing/2014/main" id="{6D270586-FB01-4DF0-B242-C8451D1A9E52}"/>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Analytical example with declared +1 / −1 weights. No human preference is inferred, and the conclusion depends on a valid hierarchy.</a:t>
            </a:r>
          </a:p>
        </p:txBody>
      </p:sp>
    </p:spTree>
    <p:extLst>
      <p:ext uri="{BB962C8B-B14F-4D97-AF65-F5344CB8AC3E}">
        <p14:creationId xmlns:p14="http://schemas.microsoft.com/office/powerpoint/2010/main" val="896384478"/>
      </p:ext>
    </p:extLst>
  </p:cSld>
</p:sld>
</file>

<file path=ppt/slides/slide3.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1F9BAAE2-82ED-42A2-89E4-BF80DEBB35FE}"/>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An exact decision without completing every tag</a:t>
            </a:r>
          </a:p>
        </p:txBody>
      </p:sp>
      <p:sp>
        <p:nvSpPr>
          <p:cNvPr id="2" name="">
            <a:extLst xmlns:a="http://schemas.openxmlformats.org/drawingml/2006/main">
              <a:ext uri="{FF2B5EF4-FFF2-40B4-BE49-F238E27FC236}">
                <a16:creationId xmlns:a16="http://schemas.microsoft.com/office/drawing/2014/main" id="{42356D35-B1DF-4DD5-A8DB-DBB428FA13A4}"/>
              </a:ext>
            </a:extLst>
          </p:cNvPr>
          <p:cNvSpPr>
            <a:spLocks xmlns:a="http://schemas.openxmlformats.org/drawingml/2006/main" noGrp="1"/>
          </p:cNvSpPr>
          <p:nvPr/>
        </p:nvSpPr>
        <p:spPr>
          <a:xfrm xmlns:a="http://schemas.openxmlformats.org/drawingml/2006/main">
            <a:off x="666750" y="1743075"/>
            <a:ext cx="10572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75" b="0">
                <a:solidFill>
                  <a:srgbClr val="173C31"/>
                </a:solidFill>
                <a:latin typeface="Helvetica Neue"/>
                <a:ea typeface="Helvetica Neue"/>
                <a:cs typeface="Helvetica Neue"/>
              </a:defRPr>
            </a:defPPr>
          </a:lstStyle>
          <a:p xmlns:a="http://schemas.openxmlformats.org/drawingml/2006/main">
            <a:pPr>
              <a:defRPr sz="2475" b="0">
                <a:solidFill>
                  <a:srgbClr val="173C31"/>
                </a:solidFill>
                <a:latin typeface="Helvetica Neue"/>
                <a:ea typeface="Helvetica Neue"/>
                <a:cs typeface="Helvetica Neue"/>
              </a:defRPr>
            </a:pPr>
            <a:r>
              <a:rPr sz="2475" b="0">
                <a:solidFill>
                  <a:srgbClr val="173C31"/>
                </a:solidFill>
                <a:latin typeface="Helvetica Neue"/>
                <a:ea typeface="Helvetica Neue"/>
                <a:cs typeface="Helvetica Neue"/>
              </a:rPr>
              <a:t>One pairwise gap → one minimum cut</a:t>
            </a:r>
          </a:p>
          <a:p xmlns:a="http://schemas.openxmlformats.org/drawingml/2006/main">
            <a:pPr>
              <a:defRPr sz="2475" b="0">
                <a:solidFill>
                  <a:srgbClr val="173C31"/>
                </a:solidFill>
                <a:latin typeface="Helvetica Neue"/>
                <a:ea typeface="Helvetica Neue"/>
                <a:cs typeface="Helvetica Neue"/>
              </a:defRPr>
            </a:pPr>
            <a:r>
              <a:rPr sz="2475" b="0">
                <a:solidFill>
                  <a:srgbClr val="173C31"/>
                </a:solidFill>
                <a:latin typeface="Helvetica Neue"/>
                <a:ea typeface="Helvetica Neue"/>
                <a:cs typeface="Helvetica Neue"/>
              </a:rPr>
              <a:t>3m + 2 nodes · O(m + e) arcs</a:t>
            </a:r>
          </a:p>
          <a:p xmlns:a="http://schemas.openxmlformats.org/drawingml/2006/main">
            <a:r>
              <a:t/>
            </a:r>
          </a:p>
          <a:p xmlns:a="http://schemas.openxmlformats.org/drawingml/2006/main">
            <a:pPr>
              <a:defRPr sz="2475" b="0">
                <a:solidFill>
                  <a:srgbClr val="173C31"/>
                </a:solidFill>
                <a:latin typeface="Helvetica Neue"/>
                <a:ea typeface="Helvetica Neue"/>
                <a:cs typeface="Helvetica Neue"/>
              </a:defRPr>
            </a:pPr>
            <a:r>
              <a:rPr sz="2475" b="0">
                <a:solidFill>
                  <a:srgbClr val="173C31"/>
                </a:solidFill>
                <a:latin typeface="Helvetica Neue"/>
                <a:ea typeface="Helvetica Neue"/>
                <a:cs typeface="Helvetica Neue"/>
              </a:rPr>
              <a:t>Unknown labels and bounded signed preferences</a:t>
            </a:r>
          </a:p>
          <a:p xmlns:a="http://schemas.openxmlformats.org/drawingml/2006/main">
            <a:pPr>
              <a:defRPr sz="2475" b="0">
                <a:solidFill>
                  <a:srgbClr val="173C31"/>
                </a:solidFill>
                <a:latin typeface="Helvetica Neue"/>
                <a:ea typeface="Helvetica Neue"/>
                <a:cs typeface="Helvetica Neue"/>
              </a:defRPr>
            </a:pPr>
            <a:r>
              <a:rPr sz="2475" b="0">
                <a:solidFill>
                  <a:srgbClr val="173C31"/>
                </a:solidFill>
                <a:latin typeface="Helvetica Neue"/>
                <a:ea typeface="Helvetica Neue"/>
                <a:cs typeface="Helvetica Neue"/>
              </a:rPr>
              <a:t>One shared preference vector for both works</a:t>
            </a:r>
          </a:p>
          <a:p xmlns:a="http://schemas.openxmlformats.org/drawingml/2006/main">
            <a:pPr>
              <a:defRPr sz="2475" b="0">
                <a:solidFill>
                  <a:srgbClr val="173C31"/>
                </a:solidFill>
                <a:latin typeface="Helvetica Neue"/>
                <a:ea typeface="Helvetica Neue"/>
                <a:cs typeface="Helvetica Neue"/>
              </a:defRPr>
            </a:pPr>
            <a:r>
              <a:rPr sz="2475" b="0">
                <a:solidFill>
                  <a:srgbClr val="173C31"/>
                </a:solidFill>
                <a:latin typeface="Helvetica Neue"/>
                <a:ea typeface="Helvetica Neue"/>
                <a:cs typeface="Helvetica Neue"/>
              </a:rPr>
              <a:t>An attaining label-and-weight counterexample</a:t>
            </a:r>
          </a:p>
        </p:txBody>
      </p:sp>
      <p:sp>
        <p:nvSpPr>
          <p:cNvPr id="3" name="">
            <a:extLst xmlns:a="http://schemas.openxmlformats.org/drawingml/2006/main">
              <a:ext uri="{FF2B5EF4-FFF2-40B4-BE49-F238E27FC236}">
                <a16:creationId xmlns:a16="http://schemas.microsoft.com/office/drawing/2014/main" id="{C482D465-66FB-411E-BB06-25D448F7B508}"/>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Exact for the declared implication/interval model. Arbitrary weight coupling, nonlinear utility and unrestricted label incompatibilities require different solvers.</a:t>
            </a:r>
          </a:p>
        </p:txBody>
      </p:sp>
    </p:spTree>
    <p:extLst>
      <p:ext uri="{BB962C8B-B14F-4D97-AF65-F5344CB8AC3E}">
        <p14:creationId xmlns:p14="http://schemas.microsoft.com/office/powerpoint/2010/main" val="1676961690"/>
      </p:ext>
    </p:extLst>
  </p:cSld>
</p:sld>
</file>

<file path=ppt/slides/slide4.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2D9BE27B-62E0-4240-9E3F-3AC78902544A}"/>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Measured: 100 of 276 states tightened</a:t>
            </a:r>
          </a:p>
        </p:txBody>
      </p:sp>
      <p:graphicFrame>
        <p:nvGraphicFramePr>
          <p:cNvPr id="2" name="Chart">
            <a:extLst xmlns:a="http://schemas.openxmlformats.org/drawingml/2006/main">
              <a:ext uri="{FF2B5EF4-FFF2-40B4-BE49-F238E27FC236}">
                <a16:creationId xmlns:a16="http://schemas.microsoft.com/office/drawing/2014/main" id="{6CCBBAC1-C80B-4555-AD98-643101BDB30A}"/>
              </a:ext>
            </a:extLst>
          </p:cNvPr>
          <p:cNvGraphicFramePr/>
          <p:nvPr/>
        </p:nvGraphicFramePr>
        <p:xfrm>
          <a:off xmlns:a="http://schemas.openxmlformats.org/drawingml/2006/main" x="857250" y="1714500"/>
          <a:ext xmlns:a="http://schemas.openxmlformats.org/drawingml/2006/main" cx="10382250" cy="3762375"/>
        </p:xfrm>
        <a:graphic xmlns:a="http://schemas.openxmlformats.org/drawingml/2006/main">
          <a:graphicData uri="http://schemas.openxmlformats.org/drawingml/2006/chart">
            <c:chart xmlns:r="http://schemas.openxmlformats.org/officeDocument/2006/relationships" xmlns:c="http://schemas.openxmlformats.org/drawingml/2006/chart" r:id="Ra88a3be911914b00"/>
          </a:graphicData>
        </a:graphic>
      </p:graphicFrame>
      <p:sp>
        <p:nvSpPr>
          <p:cNvPr id="3" name="">
            <a:extLst xmlns:a="http://schemas.openxmlformats.org/drawingml/2006/main">
              <a:ext uri="{FF2B5EF4-FFF2-40B4-BE49-F238E27FC236}">
                <a16:creationId xmlns:a16="http://schemas.microsoft.com/office/drawing/2014/main" id="{4F60CC42-6953-4E26-8370-CF48DACF75E4}"/>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Mean normalized bound for the same selected work; lower is tighter. 276 masked states from 46 sources. Scripted requests and annotation references, not human satisfaction.</a:t>
            </a:r>
          </a:p>
        </p:txBody>
      </p:sp>
    </p:spTree>
    <p:extLst>
      <p:ext uri="{BB962C8B-B14F-4D97-AF65-F5344CB8AC3E}">
        <p14:creationId xmlns:p14="http://schemas.microsoft.com/office/powerpoint/2010/main" val="292001167"/>
      </p:ext>
    </p:extLst>
  </p:cSld>
</p:sld>
</file>

<file path=ppt/slides/slide5.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5CDD1956-35CA-4E2F-B6F2-43711E4618CD}"/>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Scale check: exact answers at 2,048 facets</a:t>
            </a:r>
          </a:p>
        </p:txBody>
      </p:sp>
      <p:graphicFrame>
        <p:nvGraphicFramePr>
          <p:cNvPr id="2" name="Chart">
            <a:extLst xmlns:a="http://schemas.openxmlformats.org/drawingml/2006/main">
              <a:ext uri="{FF2B5EF4-FFF2-40B4-BE49-F238E27FC236}">
                <a16:creationId xmlns:a16="http://schemas.microsoft.com/office/drawing/2014/main" id="{D4341545-73CE-4142-87D2-97C9E4294932}"/>
              </a:ext>
            </a:extLst>
          </p:cNvPr>
          <p:cNvGraphicFramePr/>
          <p:nvPr/>
        </p:nvGraphicFramePr>
        <p:xfrm>
          <a:off xmlns:a="http://schemas.openxmlformats.org/drawingml/2006/main" x="857250" y="1714500"/>
          <a:ext xmlns:a="http://schemas.openxmlformats.org/drawingml/2006/main" cx="10382250" cy="3762375"/>
        </p:xfrm>
        <a:graphic xmlns:a="http://schemas.openxmlformats.org/drawingml/2006/main">
          <a:graphicData uri="http://schemas.openxmlformats.org/drawingml/2006/chart">
            <c:chart xmlns:r="http://schemas.openxmlformats.org/officeDocument/2006/relationships" xmlns:c="http://schemas.openxmlformats.org/drawingml/2006/chart" r:id="R4086bfc7f3e447fa"/>
          </a:graphicData>
        </a:graphic>
      </p:graphicFrame>
      <p:sp>
        <p:nvSpPr>
          <p:cNvPr id="3" name="">
            <a:extLst xmlns:a="http://schemas.openxmlformats.org/drawingml/2006/main">
              <a:ext uri="{FF2B5EF4-FFF2-40B4-BE49-F238E27FC236}">
                <a16:creationId xmlns:a16="http://schemas.microsoft.com/office/drawing/2014/main" id="{822CD880-B794-46E3-A96E-B0D26FC6EB7B}"/>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Median total milliseconds, three seeded 2,048-facet cases on this Mac. All 12 scale-case values agree. Native implementation added later; frozen inputs and both runs retained.</a:t>
            </a:r>
          </a:p>
        </p:txBody>
      </p:sp>
    </p:spTree>
    <p:extLst>
      <p:ext uri="{BB962C8B-B14F-4D97-AF65-F5344CB8AC3E}">
        <p14:creationId xmlns:p14="http://schemas.microsoft.com/office/powerpoint/2010/main" val="2017258516"/>
      </p:ext>
    </p:extLst>
  </p:cSld>
</p:sld>
</file>

<file path=ppt/slides/slide6.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5E8C91A-7E87-456B-BC6A-0839D2213D40}"/>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A wrong hierarchy can create false confidence</a:t>
            </a:r>
          </a:p>
        </p:txBody>
      </p:sp>
      <p:graphicFrame>
        <p:nvGraphicFramePr>
          <p:cNvPr id="2" name="">
            <a:extLst xmlns:a="http://schemas.openxmlformats.org/drawingml/2006/main">
              <a:ext uri="{FF2B5EF4-FFF2-40B4-BE49-F238E27FC236}">
                <a16:creationId xmlns:a16="http://schemas.microsoft.com/office/drawing/2014/main" id="{81E307F0-21E5-416C-BC07-234FA18AD5AB}"/>
              </a:ext>
            </a:extLst>
          </p:cNvPr>
          <p:cNvGraphicFramePr/>
          <p:nvPr/>
        </p:nvGraphicFramePr>
        <p:xfrm>
          <a:off xmlns:a="http://schemas.openxmlformats.org/drawingml/2006/main" x="647700" y="1714500"/>
          <a:ext xmlns:a="http://schemas.openxmlformats.org/drawingml/2006/main" cx="10896600" cy="3000375"/>
        </p:xfrm>
        <a:graphic xmlns:a="http://schemas.openxmlformats.org/drawingml/2006/main">
          <a:graphicData uri="http://schemas.openxmlformats.org/drawingml/2006/table">
            <a:tbl>
              <a:tblPr/>
              <a:tblGrid>
                <a:gridCol w="4953000"/>
                <a:gridCol w="1524000"/>
                <a:gridCol w="4419600"/>
              </a:tblGrid>
              <a:tr h="750094">
                <a:tc>
                  <a:txBody>
                    <a:bodyPr/>
                    <a:lstStyle/>
                    <a:p>
                      <a:r>
                        <a:rPr sz="1875" b="1">
                          <a:solidFill>
                            <a:srgbClr val="FFFFFF"/>
                          </a:solidFill>
                          <a:latin typeface="Helvetica Neue"/>
                          <a:ea typeface="Helvetica Neue"/>
                          <a:cs typeface="Helvetica Neue"/>
                        </a:rPr>
                        <a:t>Model / world</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Gap</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Meaning</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750094">
                <a:tc>
                  <a:txBody>
                    <a:bodyPr/>
                    <a:lstStyle/>
                    <a:p>
                      <a:r>
                        <a:rPr sz="1875" b="0">
                          <a:solidFill>
                            <a:srgbClr val="173C31"/>
                          </a:solidFill>
                          <a:latin typeface="Helvetica Neue"/>
                          <a:ea typeface="Helvetica Neue"/>
                          <a:cs typeface="Helvetica Neue"/>
                        </a:rPr>
                        <a:t>Enforce every hierarchy relation</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0</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Conditional guarantee</a:t>
                      </a:r>
                    </a:p>
                  </a:txBody>
                  <a:tcPr marL="91440" marR="91440" marT="45720" marB="45720">
                    <a:lnR w="9525">
                      <a:solidFill>
                        <a:srgbClr val="CAD5CC"/>
                      </a:solidFill>
                      <a:prstDash val="solid"/>
                    </a:lnR>
                    <a:lnB w="9525">
                      <a:solidFill>
                        <a:srgbClr val="CAD5CC"/>
                      </a:solidFill>
                      <a:prstDash val="solid"/>
                    </a:lnB>
                    <a:solidFill>
                      <a:srgbClr val="FFFFFF"/>
                    </a:solidFill>
                  </a:tcPr>
                </a:tc>
              </a:tr>
              <a:tr h="750094">
                <a:tc>
                  <a:txBody>
                    <a:bodyPr/>
                    <a:lstStyle/>
                    <a:p>
                      <a:r>
                        <a:rPr sz="1875" b="0">
                          <a:solidFill>
                            <a:srgbClr val="173C31"/>
                          </a:solidFill>
                          <a:latin typeface="Helvetica Neue"/>
                          <a:ea typeface="Helvetica Neue"/>
                          <a:cs typeface="Helvetica Neue"/>
                        </a:rPr>
                        <a:t>True world breaks one relation</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1</a:t>
                      </a:r>
                    </a:p>
                  </a:txBody>
                  <a:tcPr marL="91440" marR="91440" marT="45720" marB="45720">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Hard guarantee fails</a:t>
                      </a:r>
                    </a:p>
                  </a:txBody>
                  <a:tcPr marL="91440" marR="91440" marT="45720" marB="45720">
                    <a:lnR w="9525">
                      <a:solidFill>
                        <a:srgbClr val="CAD5CC"/>
                      </a:solidFill>
                      <a:prstDash val="solid"/>
                    </a:lnR>
                    <a:lnB w="9525">
                      <a:solidFill>
                        <a:srgbClr val="CAD5CC"/>
                      </a:solidFill>
                      <a:prstDash val="solid"/>
                    </a:lnB>
                    <a:solidFill>
                      <a:srgbClr val="E9EFE9"/>
                    </a:solidFill>
                  </a:tcPr>
                </a:tc>
              </a:tr>
              <a:tr h="750094">
                <a:tc>
                  <a:txBody>
                    <a:bodyPr/>
                    <a:lstStyle/>
                    <a:p>
                      <a:r>
                        <a:rPr sz="1875" b="0">
                          <a:solidFill>
                            <a:srgbClr val="173C31"/>
                          </a:solidFill>
                          <a:latin typeface="Helvetica Neue"/>
                          <a:ea typeface="Helvetica Neue"/>
                          <a:cs typeface="Helvetica Neue"/>
                        </a:rPr>
                        <a:t>Allow one structural fault</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1</a:t>
                      </a:r>
                    </a:p>
                  </a:txBody>
                  <a:tcPr marL="91440" marR="91440" marT="45720" marB="45720">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Conservative bound catches it</a:t>
                      </a:r>
                    </a:p>
                  </a:txBody>
                  <a:tcPr marL="91440" marR="91440" marT="45720" marB="45720">
                    <a:lnR w="9525">
                      <a:solidFill>
                        <a:srgbClr val="CAD5CC"/>
                      </a:solidFill>
                      <a:prstDash val="solid"/>
                    </a:lnR>
                    <a:lnB w="9525">
                      <a:solidFill>
                        <a:srgbClr val="CAD5CC"/>
                      </a:solidFill>
                      <a:prstDash val="solid"/>
                    </a:lnB>
                    <a:solidFill>
                      <a:srgbClr val="FFFFFF"/>
                    </a:solidFill>
                  </a:tcPr>
                </a:tc>
              </a:tr>
            </a:tbl>
          </a:graphicData>
        </a:graphic>
      </p:graphicFrame>
      <p:sp>
        <p:nvSpPr>
          <p:cNvPr id="3" name="">
            <a:extLst xmlns:a="http://schemas.openxmlformats.org/drawingml/2006/main">
              <a:ext uri="{FF2B5EF4-FFF2-40B4-BE49-F238E27FC236}">
                <a16:creationId xmlns:a16="http://schemas.microsoft.com/office/drawing/2014/main" id="{6E75D1CE-5B09-4C8F-B84D-EFC8F0B54A7C}"/>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Analytical falsification and bounded repair. The fault allowance concerns structural implication failures; it does not fix every incorrect label or model assumption.</a:t>
            </a:r>
          </a:p>
        </p:txBody>
      </p:sp>
    </p:spTree>
    <p:extLst>
      <p:ext uri="{BB962C8B-B14F-4D97-AF65-F5344CB8AC3E}">
        <p14:creationId xmlns:p14="http://schemas.microsoft.com/office/powerpoint/2010/main" val="1946958137"/>
      </p:ext>
    </p:extLst>
  </p:cSld>
</p:sld>
</file>

<file path=ppt/slides/slide7.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720FE31-147C-4F1B-B1B8-6C74B0D7A8B4}"/>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What this contribution establishes</a:t>
            </a:r>
          </a:p>
        </p:txBody>
      </p:sp>
      <p:graphicFrame>
        <p:nvGraphicFramePr>
          <p:cNvPr id="2" name="">
            <a:extLst xmlns:a="http://schemas.openxmlformats.org/drawingml/2006/main">
              <a:ext uri="{FF2B5EF4-FFF2-40B4-BE49-F238E27FC236}">
                <a16:creationId xmlns:a16="http://schemas.microsoft.com/office/drawing/2014/main" id="{5FE3ABF3-7FEE-4898-B266-91349385D77B}"/>
              </a:ext>
            </a:extLst>
          </p:cNvPr>
          <p:cNvGraphicFramePr/>
          <p:nvPr/>
        </p:nvGraphicFramePr>
        <p:xfrm>
          <a:off xmlns:a="http://schemas.openxmlformats.org/drawingml/2006/main" x="647700" y="1714500"/>
          <a:ext xmlns:a="http://schemas.openxmlformats.org/drawingml/2006/main" cx="10896600" cy="3286125"/>
        </p:xfrm>
        <a:graphic xmlns:a="http://schemas.openxmlformats.org/drawingml/2006/main">
          <a:graphicData uri="http://schemas.openxmlformats.org/drawingml/2006/table">
            <a:tbl>
              <a:tblPr/>
              <a:tblGrid>
                <a:gridCol w="3714750"/>
                <a:gridCol w="7181850"/>
              </a:tblGrid>
              <a:tr h="657225">
                <a:tc>
                  <a:txBody>
                    <a:bodyPr/>
                    <a:lstStyle/>
                    <a:p>
                      <a:r>
                        <a:rPr sz="1875" b="1">
                          <a:solidFill>
                            <a:srgbClr val="FFFFFF"/>
                          </a:solidFill>
                          <a:latin typeface="Helvetica Neue"/>
                          <a:ea typeface="Helvetica Neue"/>
                          <a:cs typeface="Helvetica Neue"/>
                        </a:rPr>
                        <a:t>Component</a:t>
                      </a:r>
                    </a:p>
                  </a:txBody>
                  <a:tcPr marL="91440" marR="91440" marT="45720" marB="45720">
                    <a:lnL w="9525">
                      <a:solidFill>
                        <a:srgbClr val="CAD5CC"/>
                      </a:solidFill>
                      <a:prstDash val="solid"/>
                    </a:lnL>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c>
                  <a:txBody>
                    <a:bodyPr/>
                    <a:lstStyle/>
                    <a:p>
                      <a:r>
                        <a:rPr sz="1875" b="1">
                          <a:solidFill>
                            <a:srgbClr val="FFFFFF"/>
                          </a:solidFill>
                          <a:latin typeface="Helvetica Neue"/>
                          <a:ea typeface="Helvetica Neue"/>
                          <a:cs typeface="Helvetica Neue"/>
                        </a:rPr>
                        <a:t>Evidence</a:t>
                      </a:r>
                    </a:p>
                  </a:txBody>
                  <a:tcPr marL="91440" marR="91440" marT="45720" marB="45720">
                    <a:lnR w="9525">
                      <a:solidFill>
                        <a:srgbClr val="CAD5CC"/>
                      </a:solidFill>
                      <a:prstDash val="solid"/>
                    </a:lnR>
                    <a:lnT w="9525">
                      <a:solidFill>
                        <a:srgbClr val="CAD5CC"/>
                      </a:solidFill>
                      <a:prstDash val="solid"/>
                    </a:lnT>
                    <a:lnB w="9525">
                      <a:solidFill>
                        <a:srgbClr val="CAD5CC"/>
                      </a:solidFill>
                      <a:prstDash val="solid"/>
                    </a:lnB>
                    <a:solidFill>
                      <a:srgbClr val="205941"/>
                    </a:solidFill>
                  </a:tcPr>
                </a:tc>
              </a:tr>
              <a:tr h="657225">
                <a:tc>
                  <a:txBody>
                    <a:bodyPr/>
                    <a:lstStyle/>
                    <a:p>
                      <a:r>
                        <a:rPr sz="1875" b="0">
                          <a:solidFill>
                            <a:srgbClr val="173C31"/>
                          </a:solidFill>
                          <a:latin typeface="Helvetica Neue"/>
                          <a:ea typeface="Helvetica Neue"/>
                          <a:cs typeface="Helvetica Neue"/>
                        </a:rPr>
                        <a:t>Exact formulation</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Derivation + exhaustive and MILP agreement</a:t>
                      </a:r>
                    </a:p>
                  </a:txBody>
                  <a:tcPr marL="91440" marR="91440" marT="45720" marB="45720">
                    <a:lnR w="9525">
                      <a:solidFill>
                        <a:srgbClr val="CAD5CC"/>
                      </a:solidFill>
                      <a:prstDash val="solid"/>
                    </a:lnR>
                    <a:lnB w="9525">
                      <a:solidFill>
                        <a:srgbClr val="CAD5CC"/>
                      </a:solidFill>
                      <a:prstDash val="solid"/>
                    </a:lnB>
                    <a:solidFill>
                      <a:srgbClr val="FFFFFF"/>
                    </a:solidFill>
                  </a:tcPr>
                </a:tc>
              </a:tr>
              <a:tr h="657225">
                <a:tc>
                  <a:txBody>
                    <a:bodyPr/>
                    <a:lstStyle/>
                    <a:p>
                      <a:r>
                        <a:rPr sz="1875" b="0">
                          <a:solidFill>
                            <a:srgbClr val="173C31"/>
                          </a:solidFill>
                          <a:latin typeface="Helvetica Neue"/>
                          <a:ea typeface="Helvetica Neue"/>
                          <a:cs typeface="Helvetica Neue"/>
                        </a:rPr>
                        <a:t>Hierarchy benefit</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100 / 276 states have a tighter bound</a:t>
                      </a:r>
                    </a:p>
                  </a:txBody>
                  <a:tcPr marL="91440" marR="91440" marT="45720" marB="45720">
                    <a:lnR w="9525">
                      <a:solidFill>
                        <a:srgbClr val="CAD5CC"/>
                      </a:solidFill>
                      <a:prstDash val="solid"/>
                    </a:lnR>
                    <a:lnB w="9525">
                      <a:solidFill>
                        <a:srgbClr val="CAD5CC"/>
                      </a:solidFill>
                      <a:prstDash val="solid"/>
                    </a:lnB>
                    <a:solidFill>
                      <a:srgbClr val="E9EFE9"/>
                    </a:solidFill>
                  </a:tcPr>
                </a:tc>
              </a:tr>
              <a:tr h="657225">
                <a:tc>
                  <a:txBody>
                    <a:bodyPr/>
                    <a:lstStyle/>
                    <a:p>
                      <a:r>
                        <a:rPr sz="1875" b="0">
                          <a:solidFill>
                            <a:srgbClr val="173C31"/>
                          </a:solidFill>
                          <a:latin typeface="Helvetica Neue"/>
                          <a:ea typeface="Helvetica Neue"/>
                          <a:cs typeface="Helvetica Neue"/>
                        </a:rPr>
                        <a:t>Fault extension</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FFFFFF"/>
                    </a:solidFill>
                  </a:tcPr>
                </a:tc>
                <a:tc>
                  <a:txBody>
                    <a:bodyPr/>
                    <a:lstStyle/>
                    <a:p>
                      <a:r>
                        <a:rPr sz="1875" b="0">
                          <a:solidFill>
                            <a:srgbClr val="173C31"/>
                          </a:solidFill>
                          <a:latin typeface="Helvetica Neue"/>
                          <a:ea typeface="Helvetica Neue"/>
                          <a:cs typeface="Helvetica Neue"/>
                        </a:rPr>
                        <a:t>Conservative bound + falsification test</a:t>
                      </a:r>
                    </a:p>
                  </a:txBody>
                  <a:tcPr marL="91440" marR="91440" marT="45720" marB="45720">
                    <a:lnR w="9525">
                      <a:solidFill>
                        <a:srgbClr val="CAD5CC"/>
                      </a:solidFill>
                      <a:prstDash val="solid"/>
                    </a:lnR>
                    <a:lnB w="9525">
                      <a:solidFill>
                        <a:srgbClr val="CAD5CC"/>
                      </a:solidFill>
                      <a:prstDash val="solid"/>
                    </a:lnB>
                    <a:solidFill>
                      <a:srgbClr val="FFFFFF"/>
                    </a:solidFill>
                  </a:tcPr>
                </a:tc>
              </a:tr>
              <a:tr h="657225">
                <a:tc>
                  <a:txBody>
                    <a:bodyPr/>
                    <a:lstStyle/>
                    <a:p>
                      <a:r>
                        <a:rPr sz="1875" b="0">
                          <a:solidFill>
                            <a:srgbClr val="173C31"/>
                          </a:solidFill>
                          <a:latin typeface="Helvetica Neue"/>
                          <a:ea typeface="Helvetica Neue"/>
                          <a:cs typeface="Helvetica Neue"/>
                        </a:rPr>
                        <a:t>Open empirical claim</a:t>
                      </a:r>
                    </a:p>
                  </a:txBody>
                  <a:tcPr marL="91440" marR="91440" marT="45720" marB="45720">
                    <a:lnL w="9525">
                      <a:solidFill>
                        <a:srgbClr val="CAD5CC"/>
                      </a:solidFill>
                      <a:prstDash val="solid"/>
                    </a:lnL>
                    <a:lnR w="9525">
                      <a:solidFill>
                        <a:srgbClr val="CAD5CC"/>
                      </a:solidFill>
                      <a:prstDash val="solid"/>
                    </a:lnR>
                    <a:lnB w="9525">
                      <a:solidFill>
                        <a:srgbClr val="CAD5CC"/>
                      </a:solidFill>
                      <a:prstDash val="solid"/>
                    </a:lnB>
                    <a:solidFill>
                      <a:srgbClr val="E9EFE9"/>
                    </a:solidFill>
                  </a:tcPr>
                </a:tc>
                <a:tc>
                  <a:txBody>
                    <a:bodyPr/>
                    <a:lstStyle/>
                    <a:p>
                      <a:r>
                        <a:rPr sz="1875" b="0">
                          <a:solidFill>
                            <a:srgbClr val="173C31"/>
                          </a:solidFill>
                          <a:latin typeface="Helvetica Neue"/>
                          <a:ea typeface="Helvetica Neue"/>
                          <a:cs typeface="Helvetica Neue"/>
                        </a:rPr>
                        <a:t>Human intent / usefulness and semantic accuracy</a:t>
                      </a:r>
                    </a:p>
                  </a:txBody>
                  <a:tcPr marL="91440" marR="91440" marT="45720" marB="45720">
                    <a:lnR w="9525">
                      <a:solidFill>
                        <a:srgbClr val="CAD5CC"/>
                      </a:solidFill>
                      <a:prstDash val="solid"/>
                    </a:lnR>
                    <a:lnB w="9525">
                      <a:solidFill>
                        <a:srgbClr val="CAD5CC"/>
                      </a:solidFill>
                      <a:prstDash val="solid"/>
                    </a:lnB>
                    <a:solidFill>
                      <a:srgbClr val="E9EFE9"/>
                    </a:solidFill>
                  </a:tcPr>
                </a:tc>
              </a:tr>
            </a:tbl>
          </a:graphicData>
        </a:graphic>
      </p:graphicFrame>
      <p:sp>
        <p:nvSpPr>
          <p:cNvPr id="3" name="">
            <a:extLst xmlns:a="http://schemas.openxmlformats.org/drawingml/2006/main">
              <a:ext uri="{FF2B5EF4-FFF2-40B4-BE49-F238E27FC236}">
                <a16:creationId xmlns:a16="http://schemas.microsoft.com/office/drawing/2014/main" id="{DD670269-5743-476C-B04B-DC0E7CB8B532}"/>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Minimax regret, closure, graph cuts and Lagrangian bounds are established. This is a candidate specialized research contribution; worldwide novelty remains unverified.</a:t>
            </a:r>
          </a:p>
        </p:txBody>
      </p:sp>
    </p:spTree>
    <p:extLst>
      <p:ext uri="{BB962C8B-B14F-4D97-AF65-F5344CB8AC3E}">
        <p14:creationId xmlns:p14="http://schemas.microsoft.com/office/powerpoint/2010/main" val="1980607987"/>
      </p:ext>
    </p:extLst>
  </p:cSld>
</p:sld>
</file>

<file path=ppt/slides/slide8.xml><?xml version="1.0" encoding="utf-8"?>
<p:sld xmlns:p="http://schemas.openxmlformats.org/presentationml/2006/main">
  <p:cSld>
    <p:bg>
      <p:bgPr>
        <a:solidFill xmlns:a="http://schemas.openxmlformats.org/drawingml/2006/main">
          <a:srgbClr val="F6F7F3"/>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3D6876AB-82CF-47DC-9692-CE4580C93FF9}"/>
              </a:ext>
            </a:extLst>
          </p:cNvPr>
          <p:cNvSpPr>
            <a:spLocks xmlns:a="http://schemas.openxmlformats.org/drawingml/2006/main" noGrp="1"/>
          </p:cNvSpPr>
          <p:nvPr/>
        </p:nvSpPr>
        <p:spPr>
          <a:xfrm xmlns:a="http://schemas.openxmlformats.org/drawingml/2006/main">
            <a:off x="647700" y="457200"/>
            <a:ext cx="10896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73C31"/>
                </a:solidFill>
                <a:latin typeface="Helvetica Neue"/>
                <a:ea typeface="Helvetica Neue"/>
                <a:cs typeface="Helvetica Neue"/>
              </a:defRPr>
            </a:defPPr>
          </a:lstStyle>
          <a:p xmlns:a="http://schemas.openxmlformats.org/drawingml/2006/main">
            <a:pPr>
              <a:defRPr sz="3450" b="1">
                <a:solidFill>
                  <a:srgbClr val="173C31"/>
                </a:solidFill>
                <a:latin typeface="Helvetica Neue"/>
                <a:ea typeface="Helvetica Neue"/>
                <a:cs typeface="Helvetica Neue"/>
              </a:defRPr>
            </a:pPr>
            <a:r>
              <a:rPr sz="3450" b="1">
                <a:solidFill>
                  <a:srgbClr val="173C31"/>
                </a:solidFill>
                <a:latin typeface="Helvetica Neue"/>
                <a:ea typeface="Helvetica Neue"/>
                <a:cs typeface="Helvetica Neue"/>
              </a:rPr>
              <a:t>A three-minute demonstration</a:t>
            </a:r>
          </a:p>
        </p:txBody>
      </p:sp>
      <p:sp>
        <p:nvSpPr>
          <p:cNvPr id="2" name="">
            <a:extLst xmlns:a="http://schemas.openxmlformats.org/drawingml/2006/main">
              <a:ext uri="{FF2B5EF4-FFF2-40B4-BE49-F238E27FC236}">
                <a16:creationId xmlns:a16="http://schemas.microsoft.com/office/drawing/2014/main" id="{499A5BCA-A123-43C4-B889-285315A6F45B}"/>
              </a:ext>
            </a:extLst>
          </p:cNvPr>
          <p:cNvSpPr>
            <a:spLocks xmlns:a="http://schemas.openxmlformats.org/drawingml/2006/main" noGrp="1"/>
          </p:cNvSpPr>
          <p:nvPr/>
        </p:nvSpPr>
        <p:spPr>
          <a:xfrm xmlns:a="http://schemas.openxmlformats.org/drawingml/2006/main">
            <a:off x="666750" y="1714500"/>
            <a:ext cx="1057275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73C31"/>
                </a:solidFill>
                <a:latin typeface="Helvetica Neue"/>
                <a:ea typeface="Helvetica Neue"/>
                <a:cs typeface="Helvetica Neue"/>
              </a:defRPr>
            </a:defPPr>
          </a:lstStyle>
          <a:p xmlns:a="http://schemas.openxmlformats.org/drawingml/2006/main">
            <a:pPr>
              <a:defRPr sz="2325" b="0">
                <a:solidFill>
                  <a:srgbClr val="173C31"/>
                </a:solidFill>
                <a:latin typeface="Helvetica Neue"/>
                <a:ea typeface="Helvetica Neue"/>
                <a:cs typeface="Helvetica Neue"/>
              </a:defRPr>
            </a:pPr>
            <a:r>
              <a:rPr sz="2325" b="0">
                <a:solidFill>
                  <a:srgbClr val="173C31"/>
                </a:solidFill>
                <a:latin typeface="Helvetica Neue"/>
                <a:ea typeface="Helvetica Neue"/>
                <a:cs typeface="Helvetica Neue"/>
              </a:rPr>
              <a:t>1. Show the impossible parent / subtype world</a:t>
            </a:r>
          </a:p>
          <a:p xmlns:a="http://schemas.openxmlformats.org/drawingml/2006/main">
            <a:pPr>
              <a:defRPr sz="2325" b="0">
                <a:solidFill>
                  <a:srgbClr val="173C31"/>
                </a:solidFill>
                <a:latin typeface="Helvetica Neue"/>
                <a:ea typeface="Helvetica Neue"/>
                <a:cs typeface="Helvetica Neue"/>
              </a:defRPr>
            </a:pPr>
            <a:r>
              <a:rPr sz="2325" b="0">
                <a:solidFill>
                  <a:srgbClr val="173C31"/>
                </a:solidFill>
                <a:latin typeface="Helvetica Neue"/>
                <a:ea typeface="Helvetica Neue"/>
                <a:cs typeface="Helvetica Neue"/>
              </a:rPr>
              <a:t>2. Allow one faulty relation; watch the bound change</a:t>
            </a:r>
          </a:p>
          <a:p xmlns:a="http://schemas.openxmlformats.org/drawingml/2006/main">
            <a:pPr>
              <a:defRPr sz="2325" b="0">
                <a:solidFill>
                  <a:srgbClr val="173C31"/>
                </a:solidFill>
                <a:latin typeface="Helvetica Neue"/>
                <a:ea typeface="Helvetica Neue"/>
                <a:cs typeface="Helvetica Neue"/>
              </a:defRPr>
            </a:pPr>
            <a:r>
              <a:rPr sz="2325" b="0">
                <a:solidFill>
                  <a:srgbClr val="173C31"/>
                </a:solidFill>
                <a:latin typeface="Helvetica Neue"/>
                <a:ea typeface="Helvetica Neue"/>
                <a:cs typeface="Helvetica Neue"/>
              </a:rPr>
              <a:t>3. Inspect a film ↔ book case and its counterexample</a:t>
            </a:r>
          </a:p>
          <a:p xmlns:a="http://schemas.openxmlformats.org/drawingml/2006/main">
            <a:r>
              <a:t/>
            </a:r>
          </a:p>
          <a:p xmlns:a="http://schemas.openxmlformats.org/drawingml/2006/main">
            <a:pPr>
              <a:defRPr sz="2325" b="0">
                <a:solidFill>
                  <a:srgbClr val="173C31"/>
                </a:solidFill>
                <a:latin typeface="Helvetica Neue"/>
                <a:ea typeface="Helvetica Neue"/>
                <a:cs typeface="Helvetica Neue"/>
              </a:defRPr>
            </a:pPr>
            <a:r>
              <a:rPr sz="2325" b="0">
                <a:solidFill>
                  <a:srgbClr val="173C31"/>
                </a:solidFill>
                <a:latin typeface="Helvetica Neue"/>
                <a:ea typeface="Helvetica Neue"/>
                <a:cs typeface="Helvetica Neue"/>
              </a:rPr>
              <a:t>Research question: how much ranking doubt comes from impossible worlds, and what does a faulty assumption cost?</a:t>
            </a:r>
          </a:p>
        </p:txBody>
      </p:sp>
      <p:sp>
        <p:nvSpPr>
          <p:cNvPr id="3" name="">
            <a:extLst xmlns:a="http://schemas.openxmlformats.org/drawingml/2006/main">
              <a:ext uri="{FF2B5EF4-FFF2-40B4-BE49-F238E27FC236}">
                <a16:creationId xmlns:a16="http://schemas.microsoft.com/office/drawing/2014/main" id="{77B5DC82-EF4E-4173-8DAE-7551653AC3C3}"/>
              </a:ext>
            </a:extLst>
          </p:cNvPr>
          <p:cNvSpPr>
            <a:spLocks xmlns:a="http://schemas.openxmlformats.org/drawingml/2006/main" noGrp="1"/>
          </p:cNvSpPr>
          <p:nvPr/>
        </p:nvSpPr>
        <p:spPr>
          <a:xfrm xmlns:a="http://schemas.openxmlformats.org/drawingml/2006/main">
            <a:off x="666750" y="5838825"/>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486257"/>
                </a:solidFill>
                <a:latin typeface="Helvetica Neue"/>
                <a:ea typeface="Helvetica Neue"/>
                <a:cs typeface="Helvetica Neue"/>
              </a:defRPr>
            </a:defPPr>
          </a:lstStyle>
          <a:p xmlns:a="http://schemas.openxmlformats.org/drawingml/2006/main">
            <a:pPr>
              <a:defRPr sz="1650" b="0">
                <a:solidFill>
                  <a:srgbClr val="486257"/>
                </a:solidFill>
                <a:latin typeface="Helvetica Neue"/>
                <a:ea typeface="Helvetica Neue"/>
                <a:cs typeface="Helvetica Neue"/>
              </a:defRPr>
            </a:pPr>
            <a:r>
              <a:rPr sz="1650" b="0">
                <a:solidFill>
                  <a:srgbClr val="486257"/>
                </a:solidFill>
                <a:latin typeface="Helvetica Neue"/>
                <a:ea typeface="Helvetica Neue"/>
                <a:cs typeface="Helvetica Neue"/>
              </a:rPr>
              <a:t>Live: http://127.0.0.1:8008/hierarchy · Proof, protocol, per-state records and both implementation runs are saved under docs/milestone2/hierarchy.</a:t>
            </a:r>
          </a:p>
        </p:txBody>
      </p:sp>
    </p:spTree>
    <p:extLst>
      <p:ext uri="{BB962C8B-B14F-4D97-AF65-F5344CB8AC3E}">
        <p14:creationId xmlns:p14="http://schemas.microsoft.com/office/powerpoint/2010/main" val="5636501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2026-10-14T13:02:08.2820000Z</dcterms:created>
  <dcterms:modified xsi:type="dcterms:W3CDTF">2026-10-14T13:02:08.2830000Z</dcterms:modified>
</coreProperties>
</file>